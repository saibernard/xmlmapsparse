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1d9b1566-6f87-b6d6-b573-6348c51fc3b0}">
          <p14:sldIdLst>
            <p14:sldId id="256"/>
          </p14:sldIdLst>
        </p14:section>
        <p14:section name="How work changes" id="{64c08d9b-0500-c4dc-7227-d4930e9d87b1}">
          <p14:sldIdLst>
            <p14:sldId id="257"/>
            <p14:sldId id="258"/>
          </p14:sldIdLst>
        </p14:section>
        <p14:section name="Time saved and next steps" id="{d1952249-ebbc-9ce2-6d23-c4711b6dcf89}">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file types are marked binary in our repository, so Git never tries to combine two versions. The result is that we either wait for each other, or we work in parallel and then redo our own changes by hand on top of the colleague's delivery and test again. That costs time, and re-typing values by hand is where mistakes creep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engineers change the same model and MAPS file. A delivers first. B has already made and tested a change, but Git cannot combine the two versions, so B pulls A's version and re-enters all of their own changes by hand before testing again. The orange step is pure rework. The alternative is that B simply waits for A, which avoids the rework but means no parallel work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two engineers, same work. The only difference is step 4: instead of redoing changes by hand, B pulls and Git combines both versions. MAPS files are merged record by record by our new merge tool, and models by MathWorks' own merge tool, which merges changes in different subsystems automatically. Only a real clash, the same value or the same subsystem changed by both, needs a person's decision, and nothing is dropped silently. Both engineers can work in parallel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rough estimates, not measurements. They assume a typical change of a few model blocks with their wiring plus 10 to 40 MAPS values. Redoing the MAPS part by hand, finding what changed, unlocking the file and re-entering values, takes about 1 to 2 hours. Redoing the model part, re-adding blocks and wiring, re-running the XML converter and re-importing into MAPS, takes about 1 to 3 hours. With merging the MAPS file merges in seconds, and a model that needs the merge window takes 5 to 15 minutes. Testing is the same either way. That is roughly 3 hours per engineer each time a delivery overlaps their work, plus 1 to 2 days less waiting. The monthly figure assumes 5 engineers with 4 overlapping deliveries each per month; replace these with our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improvements. First, rollout: today each engineer sets it up locally with one command; next, the team that manages our Git setup can install it centrally, exactly like the commit-ticket hook, so everyone gets it without doing anything. Second, already in progress: an automatic diff report after every merge that lists what changed, what was added and what was removed, per object, so it can go into the delivery without extra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347472"/>
            <a:ext cx="10570464"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3816" y="658368"/>
            <a:ext cx="10570464" cy="9144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3816" y="347472"/>
            <a:ext cx="10570464"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813816" y="658368"/>
            <a:ext cx="10570464" cy="914400"/>
          </a:xfrm>
          <a:prstGeom prst="rect">
            <a:avLst/>
          </a:prstGeom>
          <a:noFill/>
          <a:ln/>
        </p:spPr>
        <p:txBody>
          <a:bodyPr wrap="square" lIns="0" tIns="0" rIns="0" bIns="0" rtlCol="0" anchor="t"/>
          <a:lstStyle/>
          <a:p>
            <a:pPr algn="l" indent="0" marL="0">
              <a:buNone/>
            </a:pPr>
            <a:r>
              <a:rPr lang="en-US" sz="3200" b="1" dirty="0">
                <a:solidFill>
                  <a:schemeClr val="tx1"/>
                </a:solidFill>
              </a:rPr>
              <a:t>We cannot work on the same MAPS or model file in parallel</a:t>
            </a:r>
            <a:endParaRPr lang="en-US" sz="3200" dirty="0"/>
          </a:p>
        </p:txBody>
      </p:sp>
      <p:sp>
        <p:nvSpPr>
          <p:cNvPr id="4" name="problem text"/>
          <p:cNvSpPr txBox="1"/>
          <p:nvPr/>
        </p:nvSpPr>
        <p:spPr>
          <a:xfrm>
            <a:off x="813816" y="1783080"/>
            <a:ext cx="5029200" cy="2194560"/>
          </a:xfrm>
          <a:prstGeom prst="rect">
            <a:avLst/>
          </a:prstGeom>
          <a:noFill/>
          <a:ln/>
        </p:spPr>
        <p:txBody>
          <a:bodyPr wrap="square" lIns="0" tIns="0" rIns="0" bIns="0" rtlCol="0" anchor="t"/>
          <a:lstStyle/>
          <a:p>
            <a:pPr indent="0" marL="0">
              <a:lnSpc>
                <a:spcPct val="115000"/>
              </a:lnSpc>
              <a:spcAft>
                <a:spcPts val="1200"/>
              </a:spcAft>
              <a:buNone/>
            </a:pPr>
            <a:r>
              <a:rPr lang="en-US" sz="1500" dirty="0">
                <a:solidFill>
                  <a:schemeClr val="tx2"/>
                </a:solidFill>
              </a:rPr>
              <a:t>MAPS files and Simulink models are marked binary in Git. When two people change the same file, Git refuses to combine them and makes you pick one whole version.</a:t>
            </a:r>
            <a:endParaRPr lang="en-US" sz="1500" dirty="0"/>
          </a:p>
          <a:p>
            <a:pPr indent="0" marL="0">
              <a:lnSpc>
                <a:spcPct val="115000"/>
              </a:lnSpc>
              <a:buNone/>
            </a:pPr>
            <a:r>
              <a:rPr lang="en-US" sz="1500" dirty="0">
                <a:solidFill>
                  <a:schemeClr val="tx2"/>
                </a:solidFill>
              </a:rPr>
              <a:t>So today we either </a:t>
            </a:r>
            <a:pPr indent="0" marL="0">
              <a:lnSpc>
                <a:spcPct val="115000"/>
              </a:lnSpc>
              <a:buNone/>
            </a:pPr>
            <a:r>
              <a:rPr lang="en-US" sz="1500" b="1" dirty="0">
                <a:solidFill>
                  <a:schemeClr val="tx2"/>
                </a:solidFill>
              </a:rPr>
              <a:t>wait</a:t>
            </a:r>
            <a:pPr indent="0" marL="0">
              <a:lnSpc>
                <a:spcPct val="115000"/>
              </a:lnSpc>
              <a:buNone/>
            </a:pPr>
            <a:r>
              <a:rPr lang="en-US" sz="1500" dirty="0">
                <a:solidFill>
                  <a:schemeClr val="tx2"/>
                </a:solidFill>
              </a:rPr>
              <a:t> for a colleague to deliver, or work in parallel and then </a:t>
            </a:r>
            <a:pPr indent="0" marL="0">
              <a:lnSpc>
                <a:spcPct val="115000"/>
              </a:lnSpc>
              <a:buNone/>
            </a:pPr>
            <a:r>
              <a:rPr lang="en-US" sz="1500" b="1" dirty="0">
                <a:solidFill>
                  <a:schemeClr val="tx2"/>
                </a:solidFill>
              </a:rPr>
              <a:t>redo our changes by hand</a:t>
            </a:r>
            <a:pPr indent="0" marL="0">
              <a:lnSpc>
                <a:spcPct val="115000"/>
              </a:lnSpc>
              <a:buNone/>
            </a:pPr>
            <a:r>
              <a:rPr lang="en-US" sz="1500" dirty="0">
                <a:solidFill>
                  <a:schemeClr val="tx2"/>
                </a:solidFill>
              </a:rPr>
              <a:t> on top of their delivery.</a:t>
            </a:r>
            <a:endParaRPr lang="en-US" sz="1500" dirty="0"/>
          </a:p>
        </p:txBody>
      </p:sp>
      <p:sp>
        <p:nvSpPr>
          <p:cNvPr id="5" name="git message card"/>
          <p:cNvSpPr/>
          <p:nvPr/>
        </p:nvSpPr>
        <p:spPr>
          <a:xfrm>
            <a:off x="813816" y="4206240"/>
            <a:ext cx="5029200" cy="1143000"/>
          </a:xfrm>
          <a:prstGeom prst="roundRect">
            <a:avLst>
              <a:gd name="adj" fmla="val 9600"/>
            </a:avLst>
          </a:prstGeom>
          <a:solidFill>
            <a:schemeClr val="tx1"/>
          </a:solidFill>
          <a:ln w="12700">
            <a:solidFill>
              <a:schemeClr val="tx1"/>
            </a:solidFill>
            <a:prstDash val="solid"/>
          </a:ln>
        </p:spPr>
      </p:sp>
      <p:sp>
        <p:nvSpPr>
          <p:cNvPr id="6" name="Text 4"/>
          <p:cNvSpPr txBox="1"/>
          <p:nvPr/>
        </p:nvSpPr>
        <p:spPr>
          <a:xfrm>
            <a:off x="1051560" y="4370832"/>
            <a:ext cx="4572000" cy="274320"/>
          </a:xfrm>
          <a:prstGeom prst="rect">
            <a:avLst/>
          </a:prstGeom>
          <a:noFill/>
          <a:ln/>
        </p:spPr>
        <p:txBody>
          <a:bodyPr wrap="square" lIns="0" tIns="0" rIns="0" bIns="0" rtlCol="0" anchor="ctr"/>
          <a:lstStyle/>
          <a:p>
            <a:pPr indent="0" marL="0">
              <a:buNone/>
            </a:pPr>
            <a:r>
              <a:rPr lang="en-US" sz="1100" dirty="0">
                <a:solidFill>
                  <a:srgbClr val="9FB0C6"/>
                </a:solidFill>
              </a:rPr>
              <a:t>What Git says today</a:t>
            </a:r>
            <a:endParaRPr lang="en-US" sz="1100" dirty="0"/>
          </a:p>
        </p:txBody>
      </p:sp>
      <p:sp>
        <p:nvSpPr>
          <p:cNvPr id="7" name="git message"/>
          <p:cNvSpPr txBox="1"/>
          <p:nvPr/>
        </p:nvSpPr>
        <p:spPr>
          <a:xfrm>
            <a:off x="1051560" y="4709160"/>
            <a:ext cx="4663440" cy="411480"/>
          </a:xfrm>
          <a:prstGeom prst="rect">
            <a:avLst/>
          </a:prstGeom>
          <a:noFill/>
          <a:ln/>
        </p:spPr>
        <p:txBody>
          <a:bodyPr wrap="square" lIns="0" tIns="0" rIns="0" bIns="0" rtlCol="0" anchor="ctr"/>
          <a:lstStyle/>
          <a:p>
            <a:pPr indent="0" marL="0">
              <a:buNone/>
            </a:pPr>
            <a:r>
              <a:rPr lang="en-US" sz="1300" dirty="0">
                <a:solidFill>
                  <a:srgbClr val="F3F1EA"/>
                </a:solidFill>
                <a:latin typeface="Courier New" pitchFamily="34" charset="0"/>
                <a:ea typeface="Courier New" pitchFamily="34" charset="-122"/>
                <a:cs typeface="Courier New" pitchFamily="34" charset="-120"/>
              </a:rPr>
              <a:t>warning: Cannot merge binary files: model.mdl</a:t>
            </a:r>
            <a:endParaRPr lang="en-US" sz="1300" dirty="0"/>
          </a:p>
        </p:txBody>
      </p:sp>
      <p:sp>
        <p:nvSpPr>
          <p:cNvPr id="8" name="Text 6"/>
          <p:cNvSpPr txBox="1"/>
          <p:nvPr/>
        </p:nvSpPr>
        <p:spPr>
          <a:xfrm>
            <a:off x="6345936" y="173736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Negative impact</a:t>
            </a:r>
            <a:endParaRPr lang="en-US" sz="1800" dirty="0"/>
          </a:p>
        </p:txBody>
      </p:sp>
      <p:sp>
        <p:nvSpPr>
          <p:cNvPr id="9" name="impact 1 marker"/>
          <p:cNvSpPr/>
          <p:nvPr/>
        </p:nvSpPr>
        <p:spPr>
          <a:xfrm>
            <a:off x="6345936" y="2304288"/>
            <a:ext cx="384048" cy="384048"/>
          </a:xfrm>
          <a:prstGeom prst="ellipse">
            <a:avLst/>
          </a:prstGeom>
          <a:solidFill>
            <a:schemeClr val="accent2"/>
          </a:solidFill>
          <a:ln w="12700">
            <a:solidFill>
              <a:schemeClr val="accent2"/>
            </a:solidFill>
            <a:prstDash val="solid"/>
          </a:ln>
        </p:spPr>
      </p:sp>
      <p:sp>
        <p:nvSpPr>
          <p:cNvPr id="10" name="Text 8"/>
          <p:cNvSpPr txBox="1"/>
          <p:nvPr/>
        </p:nvSpPr>
        <p:spPr>
          <a:xfrm>
            <a:off x="6345936" y="2304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impact 1"/>
          <p:cNvSpPr txBox="1"/>
          <p:nvPr/>
        </p:nvSpPr>
        <p:spPr>
          <a:xfrm>
            <a:off x="6903720" y="2249424"/>
            <a:ext cx="4480560" cy="841248"/>
          </a:xfrm>
          <a:prstGeom prst="rect">
            <a:avLst/>
          </a:prstGeom>
          <a:noFill/>
          <a:ln/>
        </p:spPr>
        <p:txBody>
          <a:bodyPr wrap="square" lIns="0" tIns="0" rIns="0" bIns="0" rtlCol="0" anchor="t"/>
          <a:lstStyle/>
          <a:p>
            <a:pPr indent="0" marL="0">
              <a:buNone/>
            </a:pPr>
            <a:r>
              <a:rPr lang="en-US" sz="1500" b="1" dirty="0">
                <a:solidFill>
                  <a:schemeClr val="tx1"/>
                </a:solidFill>
              </a:rPr>
              <a:t>Waiting</a:t>
            </a:r>
            <a:endParaRPr lang="en-US" sz="1500" dirty="0"/>
          </a:p>
          <a:p>
            <a:pPr indent="0" marL="0">
              <a:buNone/>
            </a:pPr>
            <a:r>
              <a:rPr lang="en-US" sz="1300" dirty="0">
                <a:solidFill>
                  <a:schemeClr val="tx2"/>
                </a:solidFill>
              </a:rPr>
              <a:t>Work runs one after another. One engineer is blocked until the other delivers.</a:t>
            </a:r>
            <a:endParaRPr lang="en-US" sz="1500" dirty="0"/>
          </a:p>
        </p:txBody>
      </p:sp>
      <p:sp>
        <p:nvSpPr>
          <p:cNvPr id="12" name="impact 2 marker"/>
          <p:cNvSpPr/>
          <p:nvPr/>
        </p:nvSpPr>
        <p:spPr>
          <a:xfrm>
            <a:off x="6345936" y="3236976"/>
            <a:ext cx="384048" cy="384048"/>
          </a:xfrm>
          <a:prstGeom prst="ellipse">
            <a:avLst/>
          </a:prstGeom>
          <a:solidFill>
            <a:schemeClr val="accent2"/>
          </a:solidFill>
          <a:ln w="12700">
            <a:solidFill>
              <a:schemeClr val="accent2"/>
            </a:solidFill>
            <a:prstDash val="solid"/>
          </a:ln>
        </p:spPr>
      </p:sp>
      <p:sp>
        <p:nvSpPr>
          <p:cNvPr id="13" name="Text 11"/>
          <p:cNvSpPr txBox="1"/>
          <p:nvPr/>
        </p:nvSpPr>
        <p:spPr>
          <a:xfrm>
            <a:off x="6345936" y="32369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impact 2"/>
          <p:cNvSpPr txBox="1"/>
          <p:nvPr/>
        </p:nvSpPr>
        <p:spPr>
          <a:xfrm>
            <a:off x="6903720" y="3182112"/>
            <a:ext cx="4480560" cy="841248"/>
          </a:xfrm>
          <a:prstGeom prst="rect">
            <a:avLst/>
          </a:prstGeom>
          <a:noFill/>
          <a:ln/>
        </p:spPr>
        <p:txBody>
          <a:bodyPr wrap="square" lIns="0" tIns="0" rIns="0" bIns="0" rtlCol="0" anchor="t"/>
          <a:lstStyle/>
          <a:p>
            <a:pPr indent="0" marL="0">
              <a:buNone/>
            </a:pPr>
            <a:r>
              <a:rPr lang="en-US" sz="1500" b="1" dirty="0">
                <a:solidFill>
                  <a:schemeClr val="tx1"/>
                </a:solidFill>
              </a:rPr>
              <a:t>Rework</a:t>
            </a:r>
            <a:endParaRPr lang="en-US" sz="1500" dirty="0"/>
          </a:p>
          <a:p>
            <a:pPr indent="0" marL="0">
              <a:buNone/>
            </a:pPr>
            <a:r>
              <a:rPr lang="en-US" sz="1300" dirty="0">
                <a:solidFill>
                  <a:schemeClr val="tx2"/>
                </a:solidFill>
              </a:rPr>
              <a:t>MAPS values and model blocks are re-entered by hand on the new version, then tested again.</a:t>
            </a:r>
            <a:endParaRPr lang="en-US" sz="1500" dirty="0"/>
          </a:p>
        </p:txBody>
      </p:sp>
      <p:sp>
        <p:nvSpPr>
          <p:cNvPr id="15" name="impact 3 marker"/>
          <p:cNvSpPr/>
          <p:nvPr/>
        </p:nvSpPr>
        <p:spPr>
          <a:xfrm>
            <a:off x="6345936" y="4169664"/>
            <a:ext cx="384048" cy="384048"/>
          </a:xfrm>
          <a:prstGeom prst="ellipse">
            <a:avLst/>
          </a:prstGeom>
          <a:solidFill>
            <a:schemeClr val="accent2"/>
          </a:solidFill>
          <a:ln w="12700">
            <a:solidFill>
              <a:schemeClr val="accent2"/>
            </a:solidFill>
            <a:prstDash val="solid"/>
          </a:ln>
        </p:spPr>
      </p:sp>
      <p:sp>
        <p:nvSpPr>
          <p:cNvPr id="16" name="Text 14"/>
          <p:cNvSpPr txBox="1"/>
          <p:nvPr/>
        </p:nvSpPr>
        <p:spPr>
          <a:xfrm>
            <a:off x="6345936" y="41696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impact 3"/>
          <p:cNvSpPr txBox="1"/>
          <p:nvPr/>
        </p:nvSpPr>
        <p:spPr>
          <a:xfrm>
            <a:off x="6903720" y="4114800"/>
            <a:ext cx="4480560" cy="841248"/>
          </a:xfrm>
          <a:prstGeom prst="rect">
            <a:avLst/>
          </a:prstGeom>
          <a:noFill/>
          <a:ln/>
        </p:spPr>
        <p:txBody>
          <a:bodyPr wrap="square" lIns="0" tIns="0" rIns="0" bIns="0" rtlCol="0" anchor="t"/>
          <a:lstStyle/>
          <a:p>
            <a:pPr indent="0" marL="0">
              <a:buNone/>
            </a:pPr>
            <a:r>
              <a:rPr lang="en-US" sz="1500" b="1" dirty="0">
                <a:solidFill>
                  <a:schemeClr val="tx1"/>
                </a:solidFill>
              </a:rPr>
              <a:t>Mistakes</a:t>
            </a:r>
            <a:endParaRPr lang="en-US" sz="1500" dirty="0"/>
          </a:p>
          <a:p>
            <a:pPr indent="0" marL="0">
              <a:buNone/>
            </a:pPr>
            <a:r>
              <a:rPr lang="en-US" sz="1300" dirty="0">
                <a:solidFill>
                  <a:schemeClr val="tx2"/>
                </a:solidFill>
              </a:rPr>
              <a:t>Re-typing can miss or mistype a value, found only in testing or later.</a:t>
            </a:r>
            <a:endParaRPr lang="en-US" sz="1500" dirty="0"/>
          </a:p>
        </p:txBody>
      </p:sp>
      <p:sp>
        <p:nvSpPr>
          <p:cNvPr id="18" name="impact 4 marker"/>
          <p:cNvSpPr/>
          <p:nvPr/>
        </p:nvSpPr>
        <p:spPr>
          <a:xfrm>
            <a:off x="6345936" y="5102352"/>
            <a:ext cx="384048" cy="384048"/>
          </a:xfrm>
          <a:prstGeom prst="ellipse">
            <a:avLst/>
          </a:prstGeom>
          <a:solidFill>
            <a:schemeClr val="accent2"/>
          </a:solidFill>
          <a:ln w="12700">
            <a:solidFill>
              <a:schemeClr val="accent2"/>
            </a:solidFill>
            <a:prstDash val="solid"/>
          </a:ln>
        </p:spPr>
      </p:sp>
      <p:sp>
        <p:nvSpPr>
          <p:cNvPr id="19" name="Text 17"/>
          <p:cNvSpPr txBox="1"/>
          <p:nvPr/>
        </p:nvSpPr>
        <p:spPr>
          <a:xfrm>
            <a:off x="6345936" y="51023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impact 4"/>
          <p:cNvSpPr txBox="1"/>
          <p:nvPr/>
        </p:nvSpPr>
        <p:spPr>
          <a:xfrm>
            <a:off x="6903720" y="5047488"/>
            <a:ext cx="4480560" cy="841248"/>
          </a:xfrm>
          <a:prstGeom prst="rect">
            <a:avLst/>
          </a:prstGeom>
          <a:noFill/>
          <a:ln/>
        </p:spPr>
        <p:txBody>
          <a:bodyPr wrap="square" lIns="0" tIns="0" rIns="0" bIns="0" rtlCol="0" anchor="t"/>
          <a:lstStyle/>
          <a:p>
            <a:pPr indent="0" marL="0">
              <a:buNone/>
            </a:pPr>
            <a:r>
              <a:rPr lang="en-US" sz="1500" b="1" dirty="0">
                <a:solidFill>
                  <a:schemeClr val="tx1"/>
                </a:solidFill>
              </a:rPr>
              <a:t>Grows with the team</a:t>
            </a:r>
            <a:endParaRPr lang="en-US" sz="1500" dirty="0"/>
          </a:p>
          <a:p>
            <a:pPr indent="0" marL="0">
              <a:buNone/>
            </a:pPr>
            <a:r>
              <a:rPr lang="en-US" sz="1300" dirty="0">
                <a:solidFill>
                  <a:schemeClr val="tx2"/>
                </a:solidFill>
              </a:rPr>
              <a:t>The more people work on one model, the more often this happens.</a:t>
            </a:r>
            <a:endParaRPr lang="en-US" sz="15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347472"/>
            <a:ext cx="10570464"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HOW WE WORK TODAY</a:t>
            </a:r>
            <a:endParaRPr lang="en-US" sz="1200" dirty="0"/>
          </a:p>
        </p:txBody>
      </p:sp>
      <p:sp>
        <p:nvSpPr>
          <p:cNvPr id="3" name="Text 0"/>
          <p:cNvSpPr/>
          <p:nvPr>
            <p:ph idx="101" type="title" hasCustomPrompt="1"/>
          </p:nvPr>
        </p:nvSpPr>
        <p:spPr>
          <a:xfrm>
            <a:off x="813816" y="658368"/>
            <a:ext cx="10570464" cy="914400"/>
          </a:xfrm>
          <a:prstGeom prst="rect">
            <a:avLst/>
          </a:prstGeom>
          <a:noFill/>
          <a:ln/>
        </p:spPr>
        <p:txBody>
          <a:bodyPr wrap="square" lIns="0" tIns="0" rIns="0" bIns="0" rtlCol="0" anchor="t"/>
          <a:lstStyle/>
          <a:p>
            <a:pPr algn="l" indent="0" marL="0">
              <a:buNone/>
            </a:pPr>
            <a:r>
              <a:rPr lang="en-US" sz="3200" b="1" dirty="0">
                <a:solidFill>
                  <a:schemeClr val="tx1"/>
                </a:solidFill>
              </a:rPr>
              <a:t>Today: wait, or redo your changes by hand</a:t>
            </a:r>
            <a:endParaRPr lang="en-US" sz="3200" dirty="0"/>
          </a:p>
        </p:txBody>
      </p:sp>
      <p:sp>
        <p:nvSpPr>
          <p:cNvPr id="4" name="lane A"/>
          <p:cNvSpPr/>
          <p:nvPr/>
        </p:nvSpPr>
        <p:spPr>
          <a:xfrm>
            <a:off x="813816" y="1691640"/>
            <a:ext cx="10570464" cy="2011680"/>
          </a:xfrm>
          <a:prstGeom prst="roundRect">
            <a:avLst>
              <a:gd name="adj" fmla="val 4545"/>
            </a:avLst>
          </a:prstGeom>
          <a:solidFill>
            <a:schemeClr val="accent6"/>
          </a:solidFill>
          <a:ln w="12700">
            <a:solidFill>
              <a:schemeClr val="accent6"/>
            </a:solidFill>
            <a:prstDash val="solid"/>
          </a:ln>
        </p:spPr>
      </p:sp>
      <p:sp>
        <p:nvSpPr>
          <p:cNvPr id="5" name="Text 3"/>
          <p:cNvSpPr txBox="1"/>
          <p:nvPr/>
        </p:nvSpPr>
        <p:spPr>
          <a:xfrm>
            <a:off x="960120" y="2514600"/>
            <a:ext cx="1051560" cy="365760"/>
          </a:xfrm>
          <a:prstGeom prst="rect">
            <a:avLst/>
          </a:prstGeom>
          <a:noFill/>
          <a:ln/>
        </p:spPr>
        <p:txBody>
          <a:bodyPr wrap="square" lIns="0" tIns="0" rIns="0" bIns="0" rtlCol="0" anchor="ctr"/>
          <a:lstStyle/>
          <a:p>
            <a:pPr indent="0" marL="0">
              <a:buNone/>
            </a:pPr>
            <a:r>
              <a:rPr lang="en-US" sz="1400" b="1" dirty="0">
                <a:solidFill>
                  <a:schemeClr val="tx1"/>
                </a:solidFill>
              </a:rPr>
              <a:t>Engineer A</a:t>
            </a:r>
            <a:endParaRPr lang="en-US" sz="1400" dirty="0"/>
          </a:p>
        </p:txBody>
      </p:sp>
      <p:sp>
        <p:nvSpPr>
          <p:cNvPr id="6" name="lane B"/>
          <p:cNvSpPr/>
          <p:nvPr/>
        </p:nvSpPr>
        <p:spPr>
          <a:xfrm>
            <a:off x="813816" y="3886200"/>
            <a:ext cx="10570464" cy="2011680"/>
          </a:xfrm>
          <a:prstGeom prst="roundRect">
            <a:avLst>
              <a:gd name="adj" fmla="val 4545"/>
            </a:avLst>
          </a:prstGeom>
          <a:solidFill>
            <a:schemeClr val="accent6"/>
          </a:solidFill>
          <a:ln w="12700">
            <a:solidFill>
              <a:schemeClr val="accent6"/>
            </a:solidFill>
            <a:prstDash val="solid"/>
          </a:ln>
        </p:spPr>
      </p:sp>
      <p:sp>
        <p:nvSpPr>
          <p:cNvPr id="7" name="Text 5"/>
          <p:cNvSpPr txBox="1"/>
          <p:nvPr/>
        </p:nvSpPr>
        <p:spPr>
          <a:xfrm>
            <a:off x="960120" y="4709160"/>
            <a:ext cx="1051560" cy="365760"/>
          </a:xfrm>
          <a:prstGeom prst="rect">
            <a:avLst/>
          </a:prstGeom>
          <a:noFill/>
          <a:ln/>
        </p:spPr>
        <p:txBody>
          <a:bodyPr wrap="square" lIns="0" tIns="0" rIns="0" bIns="0" rtlCol="0" anchor="ctr"/>
          <a:lstStyle/>
          <a:p>
            <a:pPr indent="0" marL="0">
              <a:buNone/>
            </a:pPr>
            <a:r>
              <a:rPr lang="en-US" sz="1400" b="1" dirty="0">
                <a:solidFill>
                  <a:schemeClr val="tx1"/>
                </a:solidFill>
              </a:rPr>
              <a:t>Engineer B</a:t>
            </a:r>
            <a:endParaRPr lang="en-US" sz="1400" dirty="0"/>
          </a:p>
        </p:txBody>
      </p:sp>
      <p:sp>
        <p:nvSpPr>
          <p:cNvPr id="8" name="step A1"/>
          <p:cNvSpPr/>
          <p:nvPr/>
        </p:nvSpPr>
        <p:spPr>
          <a:xfrm>
            <a:off x="2103120" y="2240280"/>
            <a:ext cx="1325880" cy="914400"/>
          </a:xfrm>
          <a:prstGeom prst="roundRect">
            <a:avLst>
              <a:gd name="adj" fmla="val 8000"/>
            </a:avLst>
          </a:prstGeom>
          <a:solidFill>
            <a:schemeClr val="bg1"/>
          </a:solidFill>
          <a:ln w="15875">
            <a:solidFill>
              <a:schemeClr val="accent5"/>
            </a:solidFill>
            <a:prstDash val="solid"/>
          </a:ln>
        </p:spPr>
      </p:sp>
      <p:sp>
        <p:nvSpPr>
          <p:cNvPr id="9" name="Text 7"/>
          <p:cNvSpPr txBox="1"/>
          <p:nvPr/>
        </p:nvSpPr>
        <p:spPr>
          <a:xfrm>
            <a:off x="2194560" y="2313432"/>
            <a:ext cx="1143000" cy="768096"/>
          </a:xfrm>
          <a:prstGeom prst="rect">
            <a:avLst/>
          </a:prstGeom>
          <a:noFill/>
          <a:ln/>
        </p:spPr>
        <p:txBody>
          <a:bodyPr wrap="square" lIns="0" tIns="0" rIns="0" bIns="0" rtlCol="0" anchor="t"/>
          <a:lstStyle/>
          <a:p>
            <a:pPr indent="0" marL="0">
              <a:buNone/>
            </a:pPr>
            <a:r>
              <a:rPr lang="en-US" sz="1300" b="1" dirty="0">
                <a:solidFill>
                  <a:schemeClr val="tx1"/>
                </a:solidFill>
              </a:rPr>
              <a:t>1  </a:t>
            </a:r>
            <a:pPr indent="0" marL="0">
              <a:buNone/>
            </a:pPr>
            <a:r>
              <a:rPr lang="en-US" sz="1300" dirty="0">
                <a:solidFill>
                  <a:schemeClr val="tx1"/>
                </a:solidFill>
              </a:rPr>
              <a:t>Change model and MAPS</a:t>
            </a:r>
            <a:endParaRPr lang="en-US" sz="1300" dirty="0"/>
          </a:p>
        </p:txBody>
      </p:sp>
      <p:sp>
        <p:nvSpPr>
          <p:cNvPr id="10" name="step A2"/>
          <p:cNvSpPr/>
          <p:nvPr/>
        </p:nvSpPr>
        <p:spPr>
          <a:xfrm>
            <a:off x="3674059" y="2240280"/>
            <a:ext cx="1325880" cy="914400"/>
          </a:xfrm>
          <a:prstGeom prst="roundRect">
            <a:avLst>
              <a:gd name="adj" fmla="val 8000"/>
            </a:avLst>
          </a:prstGeom>
          <a:solidFill>
            <a:schemeClr val="bg1"/>
          </a:solidFill>
          <a:ln w="15875">
            <a:solidFill>
              <a:schemeClr val="accent5"/>
            </a:solidFill>
            <a:prstDash val="solid"/>
          </a:ln>
        </p:spPr>
      </p:sp>
      <p:sp>
        <p:nvSpPr>
          <p:cNvPr id="11" name="Text 9"/>
          <p:cNvSpPr txBox="1"/>
          <p:nvPr/>
        </p:nvSpPr>
        <p:spPr>
          <a:xfrm>
            <a:off x="3765499" y="2313432"/>
            <a:ext cx="1143000" cy="768096"/>
          </a:xfrm>
          <a:prstGeom prst="rect">
            <a:avLst/>
          </a:prstGeom>
          <a:noFill/>
          <a:ln/>
        </p:spPr>
        <p:txBody>
          <a:bodyPr wrap="square" lIns="0" tIns="0" rIns="0" bIns="0" rtlCol="0" anchor="t"/>
          <a:lstStyle/>
          <a:p>
            <a:pPr indent="0" marL="0">
              <a:buNone/>
            </a:pPr>
            <a:r>
              <a:rPr lang="en-US" sz="1300" b="1" dirty="0">
                <a:solidFill>
                  <a:schemeClr val="tx1"/>
                </a:solidFill>
              </a:rPr>
              <a:t>2  </a:t>
            </a:r>
            <a:pPr indent="0" marL="0">
              <a:buNone/>
            </a:pPr>
            <a:r>
              <a:rPr lang="en-US" sz="1300" dirty="0">
                <a:solidFill>
                  <a:schemeClr val="tx1"/>
                </a:solidFill>
              </a:rPr>
              <a:t>Test</a:t>
            </a:r>
            <a:endParaRPr lang="en-US" sz="1300" dirty="0"/>
          </a:p>
        </p:txBody>
      </p:sp>
      <p:sp>
        <p:nvSpPr>
          <p:cNvPr id="12" name="step A3"/>
          <p:cNvSpPr/>
          <p:nvPr/>
        </p:nvSpPr>
        <p:spPr>
          <a:xfrm>
            <a:off x="5244998" y="2240280"/>
            <a:ext cx="1325880" cy="914400"/>
          </a:xfrm>
          <a:prstGeom prst="roundRect">
            <a:avLst>
              <a:gd name="adj" fmla="val 8000"/>
            </a:avLst>
          </a:prstGeom>
          <a:solidFill>
            <a:schemeClr val="bg1"/>
          </a:solidFill>
          <a:ln w="15875">
            <a:solidFill>
              <a:schemeClr val="accent5"/>
            </a:solidFill>
            <a:prstDash val="solid"/>
          </a:ln>
        </p:spPr>
      </p:sp>
      <p:sp>
        <p:nvSpPr>
          <p:cNvPr id="13" name="Text 11"/>
          <p:cNvSpPr txBox="1"/>
          <p:nvPr/>
        </p:nvSpPr>
        <p:spPr>
          <a:xfrm>
            <a:off x="5336438" y="2313432"/>
            <a:ext cx="1143000" cy="768096"/>
          </a:xfrm>
          <a:prstGeom prst="rect">
            <a:avLst/>
          </a:prstGeom>
          <a:noFill/>
          <a:ln/>
        </p:spPr>
        <p:txBody>
          <a:bodyPr wrap="square" lIns="0" tIns="0" rIns="0" bIns="0" rtlCol="0" anchor="t"/>
          <a:lstStyle/>
          <a:p>
            <a:pPr indent="0" marL="0">
              <a:buNone/>
            </a:pPr>
            <a:r>
              <a:rPr lang="en-US" sz="1300" b="1" dirty="0">
                <a:solidFill>
                  <a:schemeClr val="tx1"/>
                </a:solidFill>
              </a:rPr>
              <a:t>3  </a:t>
            </a:r>
            <a:pPr indent="0" marL="0">
              <a:buNone/>
            </a:pPr>
            <a:r>
              <a:rPr lang="en-US" sz="1300" dirty="0">
                <a:solidFill>
                  <a:schemeClr val="tx1"/>
                </a:solidFill>
              </a:rPr>
              <a:t>Deliver</a:t>
            </a:r>
            <a:endParaRPr lang="en-US" sz="1300" dirty="0"/>
          </a:p>
        </p:txBody>
      </p:sp>
      <p:sp>
        <p:nvSpPr>
          <p:cNvPr id="14" name="step B1"/>
          <p:cNvSpPr/>
          <p:nvPr/>
        </p:nvSpPr>
        <p:spPr>
          <a:xfrm>
            <a:off x="2103120" y="4434840"/>
            <a:ext cx="1325880" cy="914400"/>
          </a:xfrm>
          <a:prstGeom prst="roundRect">
            <a:avLst>
              <a:gd name="adj" fmla="val 8000"/>
            </a:avLst>
          </a:prstGeom>
          <a:solidFill>
            <a:schemeClr val="bg1"/>
          </a:solidFill>
          <a:ln w="15875">
            <a:solidFill>
              <a:schemeClr val="accent5"/>
            </a:solidFill>
            <a:prstDash val="solid"/>
          </a:ln>
        </p:spPr>
      </p:sp>
      <p:sp>
        <p:nvSpPr>
          <p:cNvPr id="15" name="Text 13"/>
          <p:cNvSpPr txBox="1"/>
          <p:nvPr/>
        </p:nvSpPr>
        <p:spPr>
          <a:xfrm>
            <a:off x="2194560"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1  </a:t>
            </a:r>
            <a:pPr indent="0" marL="0">
              <a:buNone/>
            </a:pPr>
            <a:r>
              <a:rPr lang="en-US" sz="1300" dirty="0">
                <a:solidFill>
                  <a:schemeClr val="tx1"/>
                </a:solidFill>
              </a:rPr>
              <a:t>Change model and MAPS</a:t>
            </a:r>
            <a:endParaRPr lang="en-US" sz="1300" dirty="0"/>
          </a:p>
        </p:txBody>
      </p:sp>
      <p:sp>
        <p:nvSpPr>
          <p:cNvPr id="16" name="step B2"/>
          <p:cNvSpPr/>
          <p:nvPr/>
        </p:nvSpPr>
        <p:spPr>
          <a:xfrm>
            <a:off x="3674059" y="4434840"/>
            <a:ext cx="1325880" cy="914400"/>
          </a:xfrm>
          <a:prstGeom prst="roundRect">
            <a:avLst>
              <a:gd name="adj" fmla="val 8000"/>
            </a:avLst>
          </a:prstGeom>
          <a:solidFill>
            <a:schemeClr val="bg1"/>
          </a:solidFill>
          <a:ln w="15875">
            <a:solidFill>
              <a:schemeClr val="accent5"/>
            </a:solidFill>
            <a:prstDash val="solid"/>
          </a:ln>
        </p:spPr>
      </p:sp>
      <p:sp>
        <p:nvSpPr>
          <p:cNvPr id="17" name="Text 15"/>
          <p:cNvSpPr txBox="1"/>
          <p:nvPr/>
        </p:nvSpPr>
        <p:spPr>
          <a:xfrm>
            <a:off x="3765499"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2  </a:t>
            </a:r>
            <a:pPr indent="0" marL="0">
              <a:buNone/>
            </a:pPr>
            <a:r>
              <a:rPr lang="en-US" sz="1300" dirty="0">
                <a:solidFill>
                  <a:schemeClr val="tx1"/>
                </a:solidFill>
              </a:rPr>
              <a:t>Test</a:t>
            </a:r>
            <a:endParaRPr lang="en-US" sz="1300" dirty="0"/>
          </a:p>
        </p:txBody>
      </p:sp>
      <p:sp>
        <p:nvSpPr>
          <p:cNvPr id="18" name="step B3"/>
          <p:cNvSpPr/>
          <p:nvPr/>
        </p:nvSpPr>
        <p:spPr>
          <a:xfrm>
            <a:off x="5244998" y="4434840"/>
            <a:ext cx="1325880" cy="914400"/>
          </a:xfrm>
          <a:prstGeom prst="roundRect">
            <a:avLst>
              <a:gd name="adj" fmla="val 8000"/>
            </a:avLst>
          </a:prstGeom>
          <a:solidFill>
            <a:schemeClr val="bg1"/>
          </a:solidFill>
          <a:ln w="15875">
            <a:solidFill>
              <a:schemeClr val="accent5"/>
            </a:solidFill>
            <a:prstDash val="solid"/>
          </a:ln>
        </p:spPr>
      </p:sp>
      <p:sp>
        <p:nvSpPr>
          <p:cNvPr id="19" name="Text 17"/>
          <p:cNvSpPr txBox="1"/>
          <p:nvPr/>
        </p:nvSpPr>
        <p:spPr>
          <a:xfrm>
            <a:off x="5336438"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3  </a:t>
            </a:r>
            <a:pPr indent="0" marL="0">
              <a:buNone/>
            </a:pPr>
            <a:r>
              <a:rPr lang="en-US" sz="1300" dirty="0">
                <a:solidFill>
                  <a:schemeClr val="tx1"/>
                </a:solidFill>
              </a:rPr>
              <a:t>Pull A's version</a:t>
            </a:r>
            <a:endParaRPr lang="en-US" sz="1300" dirty="0"/>
          </a:p>
        </p:txBody>
      </p:sp>
      <p:sp>
        <p:nvSpPr>
          <p:cNvPr id="20" name="step B4"/>
          <p:cNvSpPr/>
          <p:nvPr/>
        </p:nvSpPr>
        <p:spPr>
          <a:xfrm>
            <a:off x="6815938" y="4434840"/>
            <a:ext cx="1325880" cy="914400"/>
          </a:xfrm>
          <a:prstGeom prst="roundRect">
            <a:avLst>
              <a:gd name="adj" fmla="val 8000"/>
            </a:avLst>
          </a:prstGeom>
          <a:solidFill>
            <a:schemeClr val="accent4"/>
          </a:solidFill>
          <a:ln w="28575">
            <a:solidFill>
              <a:schemeClr val="accent2"/>
            </a:solidFill>
            <a:prstDash val="solid"/>
          </a:ln>
        </p:spPr>
      </p:sp>
      <p:sp>
        <p:nvSpPr>
          <p:cNvPr id="21" name="Text 19"/>
          <p:cNvSpPr txBox="1"/>
          <p:nvPr/>
        </p:nvSpPr>
        <p:spPr>
          <a:xfrm>
            <a:off x="6907378"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4  </a:t>
            </a:r>
            <a:pPr indent="0" marL="0">
              <a:buNone/>
            </a:pPr>
            <a:r>
              <a:rPr lang="en-US" sz="1300" dirty="0">
                <a:solidFill>
                  <a:schemeClr val="tx1"/>
                </a:solidFill>
              </a:rPr>
              <a:t>Redo own changes by hand</a:t>
            </a:r>
            <a:endParaRPr lang="en-US" sz="1300" dirty="0"/>
          </a:p>
        </p:txBody>
      </p:sp>
      <p:sp>
        <p:nvSpPr>
          <p:cNvPr id="22" name="step B5"/>
          <p:cNvSpPr/>
          <p:nvPr/>
        </p:nvSpPr>
        <p:spPr>
          <a:xfrm>
            <a:off x="8386877" y="4434840"/>
            <a:ext cx="1325880" cy="914400"/>
          </a:xfrm>
          <a:prstGeom prst="roundRect">
            <a:avLst>
              <a:gd name="adj" fmla="val 8000"/>
            </a:avLst>
          </a:prstGeom>
          <a:solidFill>
            <a:schemeClr val="bg1"/>
          </a:solidFill>
          <a:ln w="15875">
            <a:solidFill>
              <a:schemeClr val="accent5"/>
            </a:solidFill>
            <a:prstDash val="solid"/>
          </a:ln>
        </p:spPr>
      </p:sp>
      <p:sp>
        <p:nvSpPr>
          <p:cNvPr id="23" name="Text 21"/>
          <p:cNvSpPr txBox="1"/>
          <p:nvPr/>
        </p:nvSpPr>
        <p:spPr>
          <a:xfrm>
            <a:off x="8478317"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5  </a:t>
            </a:r>
            <a:pPr indent="0" marL="0">
              <a:buNone/>
            </a:pPr>
            <a:r>
              <a:rPr lang="en-US" sz="1300" dirty="0">
                <a:solidFill>
                  <a:schemeClr val="tx1"/>
                </a:solidFill>
              </a:rPr>
              <a:t>Test the combined result</a:t>
            </a:r>
            <a:endParaRPr lang="en-US" sz="1300" dirty="0"/>
          </a:p>
        </p:txBody>
      </p:sp>
      <p:sp>
        <p:nvSpPr>
          <p:cNvPr id="24" name="step B6"/>
          <p:cNvSpPr/>
          <p:nvPr/>
        </p:nvSpPr>
        <p:spPr>
          <a:xfrm>
            <a:off x="9957816" y="4434840"/>
            <a:ext cx="1325880" cy="914400"/>
          </a:xfrm>
          <a:prstGeom prst="roundRect">
            <a:avLst>
              <a:gd name="adj" fmla="val 8000"/>
            </a:avLst>
          </a:prstGeom>
          <a:solidFill>
            <a:schemeClr val="bg1"/>
          </a:solidFill>
          <a:ln w="15875">
            <a:solidFill>
              <a:schemeClr val="accent5"/>
            </a:solidFill>
            <a:prstDash val="solid"/>
          </a:ln>
        </p:spPr>
      </p:sp>
      <p:sp>
        <p:nvSpPr>
          <p:cNvPr id="25" name="Text 23"/>
          <p:cNvSpPr txBox="1"/>
          <p:nvPr/>
        </p:nvSpPr>
        <p:spPr>
          <a:xfrm>
            <a:off x="10049256"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6  </a:t>
            </a:r>
            <a:pPr indent="0" marL="0">
              <a:buNone/>
            </a:pPr>
            <a:r>
              <a:rPr lang="en-US" sz="1300" dirty="0">
                <a:solidFill>
                  <a:schemeClr val="tx1"/>
                </a:solidFill>
              </a:rPr>
              <a:t>Deliver</a:t>
            </a:r>
            <a:endParaRPr lang="en-US" sz="1300" dirty="0"/>
          </a:p>
        </p:txBody>
      </p:sp>
      <p:sp>
        <p:nvSpPr>
          <p:cNvPr id="26" name="Shape 24"/>
          <p:cNvSpPr/>
          <p:nvPr/>
        </p:nvSpPr>
        <p:spPr>
          <a:xfrm>
            <a:off x="3429000" y="2697480"/>
            <a:ext cx="245059" cy="0"/>
          </a:xfrm>
          <a:prstGeom prst="line">
            <a:avLst/>
          </a:prstGeom>
          <a:noFill/>
          <a:ln w="19050">
            <a:solidFill>
              <a:srgbClr val="6B7686"/>
            </a:solidFill>
            <a:prstDash val="solid"/>
            <a:tailEnd type="triangle"/>
          </a:ln>
        </p:spPr>
      </p:sp>
      <p:sp>
        <p:nvSpPr>
          <p:cNvPr id="27" name="Shape 25"/>
          <p:cNvSpPr/>
          <p:nvPr/>
        </p:nvSpPr>
        <p:spPr>
          <a:xfrm>
            <a:off x="4999939" y="2697480"/>
            <a:ext cx="245059" cy="0"/>
          </a:xfrm>
          <a:prstGeom prst="line">
            <a:avLst/>
          </a:prstGeom>
          <a:noFill/>
          <a:ln w="19050">
            <a:solidFill>
              <a:srgbClr val="6B7686"/>
            </a:solidFill>
            <a:prstDash val="solid"/>
            <a:tailEnd type="triangle"/>
          </a:ln>
        </p:spPr>
      </p:sp>
      <p:sp>
        <p:nvSpPr>
          <p:cNvPr id="28" name="Shape 26"/>
          <p:cNvSpPr/>
          <p:nvPr/>
        </p:nvSpPr>
        <p:spPr>
          <a:xfrm>
            <a:off x="3429000" y="4892040"/>
            <a:ext cx="245059" cy="0"/>
          </a:xfrm>
          <a:prstGeom prst="line">
            <a:avLst/>
          </a:prstGeom>
          <a:noFill/>
          <a:ln w="19050">
            <a:solidFill>
              <a:srgbClr val="6B7686"/>
            </a:solidFill>
            <a:prstDash val="solid"/>
            <a:tailEnd type="triangle"/>
          </a:ln>
        </p:spPr>
      </p:sp>
      <p:sp>
        <p:nvSpPr>
          <p:cNvPr id="29" name="Shape 27"/>
          <p:cNvSpPr/>
          <p:nvPr/>
        </p:nvSpPr>
        <p:spPr>
          <a:xfrm>
            <a:off x="4999939" y="4892040"/>
            <a:ext cx="245059" cy="0"/>
          </a:xfrm>
          <a:prstGeom prst="line">
            <a:avLst/>
          </a:prstGeom>
          <a:noFill/>
          <a:ln w="19050">
            <a:solidFill>
              <a:srgbClr val="6B7686"/>
            </a:solidFill>
            <a:prstDash val="solid"/>
            <a:tailEnd type="triangle"/>
          </a:ln>
        </p:spPr>
      </p:sp>
      <p:sp>
        <p:nvSpPr>
          <p:cNvPr id="30" name="Shape 28"/>
          <p:cNvSpPr/>
          <p:nvPr/>
        </p:nvSpPr>
        <p:spPr>
          <a:xfrm>
            <a:off x="6570878" y="4892040"/>
            <a:ext cx="245059" cy="0"/>
          </a:xfrm>
          <a:prstGeom prst="line">
            <a:avLst/>
          </a:prstGeom>
          <a:noFill/>
          <a:ln w="19050">
            <a:solidFill>
              <a:srgbClr val="6B7686"/>
            </a:solidFill>
            <a:prstDash val="solid"/>
            <a:tailEnd type="triangle"/>
          </a:ln>
        </p:spPr>
      </p:sp>
      <p:sp>
        <p:nvSpPr>
          <p:cNvPr id="31" name="Shape 29"/>
          <p:cNvSpPr/>
          <p:nvPr/>
        </p:nvSpPr>
        <p:spPr>
          <a:xfrm>
            <a:off x="8141818" y="4892040"/>
            <a:ext cx="245059" cy="0"/>
          </a:xfrm>
          <a:prstGeom prst="line">
            <a:avLst/>
          </a:prstGeom>
          <a:noFill/>
          <a:ln w="19050">
            <a:solidFill>
              <a:srgbClr val="6B7686"/>
            </a:solidFill>
            <a:prstDash val="solid"/>
            <a:tailEnd type="triangle"/>
          </a:ln>
        </p:spPr>
      </p:sp>
      <p:sp>
        <p:nvSpPr>
          <p:cNvPr id="32" name="Shape 30"/>
          <p:cNvSpPr/>
          <p:nvPr/>
        </p:nvSpPr>
        <p:spPr>
          <a:xfrm>
            <a:off x="9712757" y="4892040"/>
            <a:ext cx="245059" cy="0"/>
          </a:xfrm>
          <a:prstGeom prst="line">
            <a:avLst/>
          </a:prstGeom>
          <a:noFill/>
          <a:ln w="19050">
            <a:solidFill>
              <a:srgbClr val="6B7686"/>
            </a:solidFill>
            <a:prstDash val="solid"/>
            <a:tailEnd type="triangle"/>
          </a:ln>
        </p:spPr>
      </p:sp>
      <p:sp>
        <p:nvSpPr>
          <p:cNvPr id="33" name="Shape 31"/>
          <p:cNvSpPr/>
          <p:nvPr/>
        </p:nvSpPr>
        <p:spPr>
          <a:xfrm>
            <a:off x="5907938" y="3154680"/>
            <a:ext cx="0" cy="1280160"/>
          </a:xfrm>
          <a:prstGeom prst="line">
            <a:avLst/>
          </a:prstGeom>
          <a:noFill/>
          <a:ln w="22225">
            <a:solidFill>
              <a:schemeClr val="tx1"/>
            </a:solidFill>
            <a:prstDash val="dash"/>
            <a:tailEnd type="triangle"/>
          </a:ln>
        </p:spPr>
      </p:sp>
      <p:sp>
        <p:nvSpPr>
          <p:cNvPr id="34" name="Text 32"/>
          <p:cNvSpPr txBox="1"/>
          <p:nvPr/>
        </p:nvSpPr>
        <p:spPr>
          <a:xfrm>
            <a:off x="6017666" y="3319272"/>
            <a:ext cx="1280160" cy="274320"/>
          </a:xfrm>
          <a:prstGeom prst="rect">
            <a:avLst/>
          </a:prstGeom>
          <a:noFill/>
          <a:ln/>
        </p:spPr>
        <p:txBody>
          <a:bodyPr wrap="square" lIns="0" tIns="0" rIns="0" bIns="0" rtlCol="0" anchor="ctr"/>
          <a:lstStyle/>
          <a:p>
            <a:pPr indent="0" marL="0">
              <a:buNone/>
            </a:pPr>
            <a:r>
              <a:rPr lang="en-US" sz="1200" dirty="0">
                <a:solidFill>
                  <a:schemeClr val="tx2"/>
                </a:solidFill>
              </a:rPr>
              <a:t>A delivers</a:t>
            </a:r>
            <a:endParaRPr lang="en-US" sz="1200" dirty="0"/>
          </a:p>
        </p:txBody>
      </p:sp>
      <p:sp>
        <p:nvSpPr>
          <p:cNvPr id="35" name="caption"/>
          <p:cNvSpPr txBox="1"/>
          <p:nvPr/>
        </p:nvSpPr>
        <p:spPr>
          <a:xfrm>
            <a:off x="813816" y="6053328"/>
            <a:ext cx="10424160" cy="292608"/>
          </a:xfrm>
          <a:prstGeom prst="rect">
            <a:avLst/>
          </a:prstGeom>
          <a:noFill/>
          <a:ln/>
        </p:spPr>
        <p:txBody>
          <a:bodyPr wrap="square" lIns="0" tIns="0" rIns="0" bIns="0" rtlCol="0" anchor="ctr"/>
          <a:lstStyle/>
          <a:p>
            <a:pPr indent="0" marL="0">
              <a:buNone/>
            </a:pPr>
            <a:r>
              <a:rPr lang="en-US" sz="1200" dirty="0">
                <a:solidFill>
                  <a:schemeClr val="tx2"/>
                </a:solidFill>
              </a:rPr>
              <a:t>Or B waits until A delivers before starting: no redo, but no parallel work. Orange box = work done twice.</a:t>
            </a:r>
            <a:endParaRPr lang="en-US" sz="12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347472"/>
            <a:ext cx="10570464"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WITH MERGING</a:t>
            </a:r>
            <a:endParaRPr lang="en-US" sz="1200" dirty="0"/>
          </a:p>
        </p:txBody>
      </p:sp>
      <p:sp>
        <p:nvSpPr>
          <p:cNvPr id="3" name="Text 0"/>
          <p:cNvSpPr/>
          <p:nvPr>
            <p:ph idx="101" type="title" hasCustomPrompt="1"/>
          </p:nvPr>
        </p:nvSpPr>
        <p:spPr>
          <a:xfrm>
            <a:off x="813816" y="658368"/>
            <a:ext cx="10570464" cy="914400"/>
          </a:xfrm>
          <a:prstGeom prst="rect">
            <a:avLst/>
          </a:prstGeom>
          <a:noFill/>
          <a:ln/>
        </p:spPr>
        <p:txBody>
          <a:bodyPr wrap="square" lIns="0" tIns="0" rIns="0" bIns="0" rtlCol="0" anchor="t"/>
          <a:lstStyle/>
          <a:p>
            <a:pPr algn="l" indent="0" marL="0">
              <a:buNone/>
            </a:pPr>
            <a:r>
              <a:rPr lang="en-US" sz="3200" b="1" dirty="0">
                <a:solidFill>
                  <a:schemeClr val="tx1"/>
                </a:solidFill>
              </a:rPr>
              <a:t>With merging: Git combines the changes</a:t>
            </a:r>
            <a:endParaRPr lang="en-US" sz="3200" dirty="0"/>
          </a:p>
        </p:txBody>
      </p:sp>
      <p:sp>
        <p:nvSpPr>
          <p:cNvPr id="4" name="lane A"/>
          <p:cNvSpPr/>
          <p:nvPr/>
        </p:nvSpPr>
        <p:spPr>
          <a:xfrm>
            <a:off x="813816" y="1691640"/>
            <a:ext cx="10570464" cy="2011680"/>
          </a:xfrm>
          <a:prstGeom prst="roundRect">
            <a:avLst>
              <a:gd name="adj" fmla="val 4545"/>
            </a:avLst>
          </a:prstGeom>
          <a:solidFill>
            <a:schemeClr val="accent6"/>
          </a:solidFill>
          <a:ln w="12700">
            <a:solidFill>
              <a:schemeClr val="accent6"/>
            </a:solidFill>
            <a:prstDash val="solid"/>
          </a:ln>
        </p:spPr>
      </p:sp>
      <p:sp>
        <p:nvSpPr>
          <p:cNvPr id="5" name="Text 3"/>
          <p:cNvSpPr txBox="1"/>
          <p:nvPr/>
        </p:nvSpPr>
        <p:spPr>
          <a:xfrm>
            <a:off x="960120" y="2514600"/>
            <a:ext cx="1051560" cy="365760"/>
          </a:xfrm>
          <a:prstGeom prst="rect">
            <a:avLst/>
          </a:prstGeom>
          <a:noFill/>
          <a:ln/>
        </p:spPr>
        <p:txBody>
          <a:bodyPr wrap="square" lIns="0" tIns="0" rIns="0" bIns="0" rtlCol="0" anchor="ctr"/>
          <a:lstStyle/>
          <a:p>
            <a:pPr indent="0" marL="0">
              <a:buNone/>
            </a:pPr>
            <a:r>
              <a:rPr lang="en-US" sz="1400" b="1" dirty="0">
                <a:solidFill>
                  <a:schemeClr val="tx1"/>
                </a:solidFill>
              </a:rPr>
              <a:t>Engineer A</a:t>
            </a:r>
            <a:endParaRPr lang="en-US" sz="1400" dirty="0"/>
          </a:p>
        </p:txBody>
      </p:sp>
      <p:sp>
        <p:nvSpPr>
          <p:cNvPr id="6" name="lane B"/>
          <p:cNvSpPr/>
          <p:nvPr/>
        </p:nvSpPr>
        <p:spPr>
          <a:xfrm>
            <a:off x="813816" y="3886200"/>
            <a:ext cx="10570464" cy="2011680"/>
          </a:xfrm>
          <a:prstGeom prst="roundRect">
            <a:avLst>
              <a:gd name="adj" fmla="val 4545"/>
            </a:avLst>
          </a:prstGeom>
          <a:solidFill>
            <a:schemeClr val="accent6"/>
          </a:solidFill>
          <a:ln w="12700">
            <a:solidFill>
              <a:schemeClr val="accent6"/>
            </a:solidFill>
            <a:prstDash val="solid"/>
          </a:ln>
        </p:spPr>
      </p:sp>
      <p:sp>
        <p:nvSpPr>
          <p:cNvPr id="7" name="Text 5"/>
          <p:cNvSpPr txBox="1"/>
          <p:nvPr/>
        </p:nvSpPr>
        <p:spPr>
          <a:xfrm>
            <a:off x="960120" y="4709160"/>
            <a:ext cx="1051560" cy="365760"/>
          </a:xfrm>
          <a:prstGeom prst="rect">
            <a:avLst/>
          </a:prstGeom>
          <a:noFill/>
          <a:ln/>
        </p:spPr>
        <p:txBody>
          <a:bodyPr wrap="square" lIns="0" tIns="0" rIns="0" bIns="0" rtlCol="0" anchor="ctr"/>
          <a:lstStyle/>
          <a:p>
            <a:pPr indent="0" marL="0">
              <a:buNone/>
            </a:pPr>
            <a:r>
              <a:rPr lang="en-US" sz="1400" b="1" dirty="0">
                <a:solidFill>
                  <a:schemeClr val="tx1"/>
                </a:solidFill>
              </a:rPr>
              <a:t>Engineer B</a:t>
            </a:r>
            <a:endParaRPr lang="en-US" sz="1400" dirty="0"/>
          </a:p>
        </p:txBody>
      </p:sp>
      <p:sp>
        <p:nvSpPr>
          <p:cNvPr id="8" name="step A1"/>
          <p:cNvSpPr/>
          <p:nvPr/>
        </p:nvSpPr>
        <p:spPr>
          <a:xfrm>
            <a:off x="2103120" y="2240280"/>
            <a:ext cx="1325880" cy="914400"/>
          </a:xfrm>
          <a:prstGeom prst="roundRect">
            <a:avLst>
              <a:gd name="adj" fmla="val 8000"/>
            </a:avLst>
          </a:prstGeom>
          <a:solidFill>
            <a:schemeClr val="bg1"/>
          </a:solidFill>
          <a:ln w="15875">
            <a:solidFill>
              <a:schemeClr val="accent5"/>
            </a:solidFill>
            <a:prstDash val="solid"/>
          </a:ln>
        </p:spPr>
      </p:sp>
      <p:sp>
        <p:nvSpPr>
          <p:cNvPr id="9" name="Text 7"/>
          <p:cNvSpPr txBox="1"/>
          <p:nvPr/>
        </p:nvSpPr>
        <p:spPr>
          <a:xfrm>
            <a:off x="2194560" y="2313432"/>
            <a:ext cx="1143000" cy="768096"/>
          </a:xfrm>
          <a:prstGeom prst="rect">
            <a:avLst/>
          </a:prstGeom>
          <a:noFill/>
          <a:ln/>
        </p:spPr>
        <p:txBody>
          <a:bodyPr wrap="square" lIns="0" tIns="0" rIns="0" bIns="0" rtlCol="0" anchor="t"/>
          <a:lstStyle/>
          <a:p>
            <a:pPr indent="0" marL="0">
              <a:buNone/>
            </a:pPr>
            <a:r>
              <a:rPr lang="en-US" sz="1300" b="1" dirty="0">
                <a:solidFill>
                  <a:schemeClr val="tx1"/>
                </a:solidFill>
              </a:rPr>
              <a:t>1  </a:t>
            </a:r>
            <a:pPr indent="0" marL="0">
              <a:buNone/>
            </a:pPr>
            <a:r>
              <a:rPr lang="en-US" sz="1300" dirty="0">
                <a:solidFill>
                  <a:schemeClr val="tx1"/>
                </a:solidFill>
              </a:rPr>
              <a:t>Change model and MAPS</a:t>
            </a:r>
            <a:endParaRPr lang="en-US" sz="1300" dirty="0"/>
          </a:p>
        </p:txBody>
      </p:sp>
      <p:sp>
        <p:nvSpPr>
          <p:cNvPr id="10" name="step A2"/>
          <p:cNvSpPr/>
          <p:nvPr/>
        </p:nvSpPr>
        <p:spPr>
          <a:xfrm>
            <a:off x="3674059" y="2240280"/>
            <a:ext cx="1325880" cy="914400"/>
          </a:xfrm>
          <a:prstGeom prst="roundRect">
            <a:avLst>
              <a:gd name="adj" fmla="val 8000"/>
            </a:avLst>
          </a:prstGeom>
          <a:solidFill>
            <a:schemeClr val="bg1"/>
          </a:solidFill>
          <a:ln w="15875">
            <a:solidFill>
              <a:schemeClr val="accent5"/>
            </a:solidFill>
            <a:prstDash val="solid"/>
          </a:ln>
        </p:spPr>
      </p:sp>
      <p:sp>
        <p:nvSpPr>
          <p:cNvPr id="11" name="Text 9"/>
          <p:cNvSpPr txBox="1"/>
          <p:nvPr/>
        </p:nvSpPr>
        <p:spPr>
          <a:xfrm>
            <a:off x="3765499" y="2313432"/>
            <a:ext cx="1143000" cy="768096"/>
          </a:xfrm>
          <a:prstGeom prst="rect">
            <a:avLst/>
          </a:prstGeom>
          <a:noFill/>
          <a:ln/>
        </p:spPr>
        <p:txBody>
          <a:bodyPr wrap="square" lIns="0" tIns="0" rIns="0" bIns="0" rtlCol="0" anchor="t"/>
          <a:lstStyle/>
          <a:p>
            <a:pPr indent="0" marL="0">
              <a:buNone/>
            </a:pPr>
            <a:r>
              <a:rPr lang="en-US" sz="1300" b="1" dirty="0">
                <a:solidFill>
                  <a:schemeClr val="tx1"/>
                </a:solidFill>
              </a:rPr>
              <a:t>2  </a:t>
            </a:r>
            <a:pPr indent="0" marL="0">
              <a:buNone/>
            </a:pPr>
            <a:r>
              <a:rPr lang="en-US" sz="1300" dirty="0">
                <a:solidFill>
                  <a:schemeClr val="tx1"/>
                </a:solidFill>
              </a:rPr>
              <a:t>Test</a:t>
            </a:r>
            <a:endParaRPr lang="en-US" sz="1300" dirty="0"/>
          </a:p>
        </p:txBody>
      </p:sp>
      <p:sp>
        <p:nvSpPr>
          <p:cNvPr id="12" name="step A3"/>
          <p:cNvSpPr/>
          <p:nvPr/>
        </p:nvSpPr>
        <p:spPr>
          <a:xfrm>
            <a:off x="5244998" y="2240280"/>
            <a:ext cx="1325880" cy="914400"/>
          </a:xfrm>
          <a:prstGeom prst="roundRect">
            <a:avLst>
              <a:gd name="adj" fmla="val 8000"/>
            </a:avLst>
          </a:prstGeom>
          <a:solidFill>
            <a:schemeClr val="bg1"/>
          </a:solidFill>
          <a:ln w="15875">
            <a:solidFill>
              <a:schemeClr val="accent5"/>
            </a:solidFill>
            <a:prstDash val="solid"/>
          </a:ln>
        </p:spPr>
      </p:sp>
      <p:sp>
        <p:nvSpPr>
          <p:cNvPr id="13" name="Text 11"/>
          <p:cNvSpPr txBox="1"/>
          <p:nvPr/>
        </p:nvSpPr>
        <p:spPr>
          <a:xfrm>
            <a:off x="5336438" y="2313432"/>
            <a:ext cx="1143000" cy="768096"/>
          </a:xfrm>
          <a:prstGeom prst="rect">
            <a:avLst/>
          </a:prstGeom>
          <a:noFill/>
          <a:ln/>
        </p:spPr>
        <p:txBody>
          <a:bodyPr wrap="square" lIns="0" tIns="0" rIns="0" bIns="0" rtlCol="0" anchor="t"/>
          <a:lstStyle/>
          <a:p>
            <a:pPr indent="0" marL="0">
              <a:buNone/>
            </a:pPr>
            <a:r>
              <a:rPr lang="en-US" sz="1300" b="1" dirty="0">
                <a:solidFill>
                  <a:schemeClr val="tx1"/>
                </a:solidFill>
              </a:rPr>
              <a:t>3  </a:t>
            </a:r>
            <a:pPr indent="0" marL="0">
              <a:buNone/>
            </a:pPr>
            <a:r>
              <a:rPr lang="en-US" sz="1300" dirty="0">
                <a:solidFill>
                  <a:schemeClr val="tx1"/>
                </a:solidFill>
              </a:rPr>
              <a:t>Deliver</a:t>
            </a:r>
            <a:endParaRPr lang="en-US" sz="1300" dirty="0"/>
          </a:p>
        </p:txBody>
      </p:sp>
      <p:sp>
        <p:nvSpPr>
          <p:cNvPr id="14" name="step B1"/>
          <p:cNvSpPr/>
          <p:nvPr/>
        </p:nvSpPr>
        <p:spPr>
          <a:xfrm>
            <a:off x="2103120" y="4434840"/>
            <a:ext cx="1325880" cy="914400"/>
          </a:xfrm>
          <a:prstGeom prst="roundRect">
            <a:avLst>
              <a:gd name="adj" fmla="val 8000"/>
            </a:avLst>
          </a:prstGeom>
          <a:solidFill>
            <a:schemeClr val="bg1"/>
          </a:solidFill>
          <a:ln w="15875">
            <a:solidFill>
              <a:schemeClr val="accent5"/>
            </a:solidFill>
            <a:prstDash val="solid"/>
          </a:ln>
        </p:spPr>
      </p:sp>
      <p:sp>
        <p:nvSpPr>
          <p:cNvPr id="15" name="Text 13"/>
          <p:cNvSpPr txBox="1"/>
          <p:nvPr/>
        </p:nvSpPr>
        <p:spPr>
          <a:xfrm>
            <a:off x="2194560"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1  </a:t>
            </a:r>
            <a:pPr indent="0" marL="0">
              <a:buNone/>
            </a:pPr>
            <a:r>
              <a:rPr lang="en-US" sz="1300" dirty="0">
                <a:solidFill>
                  <a:schemeClr val="tx1"/>
                </a:solidFill>
              </a:rPr>
              <a:t>Change model and MAPS</a:t>
            </a:r>
            <a:endParaRPr lang="en-US" sz="1300" dirty="0"/>
          </a:p>
        </p:txBody>
      </p:sp>
      <p:sp>
        <p:nvSpPr>
          <p:cNvPr id="16" name="step B2"/>
          <p:cNvSpPr/>
          <p:nvPr/>
        </p:nvSpPr>
        <p:spPr>
          <a:xfrm>
            <a:off x="3674059" y="4434840"/>
            <a:ext cx="1325880" cy="914400"/>
          </a:xfrm>
          <a:prstGeom prst="roundRect">
            <a:avLst>
              <a:gd name="adj" fmla="val 8000"/>
            </a:avLst>
          </a:prstGeom>
          <a:solidFill>
            <a:schemeClr val="bg1"/>
          </a:solidFill>
          <a:ln w="15875">
            <a:solidFill>
              <a:schemeClr val="accent5"/>
            </a:solidFill>
            <a:prstDash val="solid"/>
          </a:ln>
        </p:spPr>
      </p:sp>
      <p:sp>
        <p:nvSpPr>
          <p:cNvPr id="17" name="Text 15"/>
          <p:cNvSpPr txBox="1"/>
          <p:nvPr/>
        </p:nvSpPr>
        <p:spPr>
          <a:xfrm>
            <a:off x="3765499"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2  </a:t>
            </a:r>
            <a:pPr indent="0" marL="0">
              <a:buNone/>
            </a:pPr>
            <a:r>
              <a:rPr lang="en-US" sz="1300" dirty="0">
                <a:solidFill>
                  <a:schemeClr val="tx1"/>
                </a:solidFill>
              </a:rPr>
              <a:t>Test</a:t>
            </a:r>
            <a:endParaRPr lang="en-US" sz="1300" dirty="0"/>
          </a:p>
        </p:txBody>
      </p:sp>
      <p:sp>
        <p:nvSpPr>
          <p:cNvPr id="18" name="step B3"/>
          <p:cNvSpPr/>
          <p:nvPr/>
        </p:nvSpPr>
        <p:spPr>
          <a:xfrm>
            <a:off x="5244998" y="4434840"/>
            <a:ext cx="1325880" cy="914400"/>
          </a:xfrm>
          <a:prstGeom prst="roundRect">
            <a:avLst>
              <a:gd name="adj" fmla="val 8000"/>
            </a:avLst>
          </a:prstGeom>
          <a:solidFill>
            <a:schemeClr val="bg1"/>
          </a:solidFill>
          <a:ln w="15875">
            <a:solidFill>
              <a:schemeClr val="accent5"/>
            </a:solidFill>
            <a:prstDash val="solid"/>
          </a:ln>
        </p:spPr>
      </p:sp>
      <p:sp>
        <p:nvSpPr>
          <p:cNvPr id="19" name="Text 17"/>
          <p:cNvSpPr txBox="1"/>
          <p:nvPr/>
        </p:nvSpPr>
        <p:spPr>
          <a:xfrm>
            <a:off x="5336438"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3  </a:t>
            </a:r>
            <a:pPr indent="0" marL="0">
              <a:buNone/>
            </a:pPr>
            <a:r>
              <a:rPr lang="en-US" sz="1300" dirty="0">
                <a:solidFill>
                  <a:schemeClr val="tx1"/>
                </a:solidFill>
              </a:rPr>
              <a:t>Pull A's version</a:t>
            </a:r>
            <a:endParaRPr lang="en-US" sz="1300" dirty="0"/>
          </a:p>
        </p:txBody>
      </p:sp>
      <p:sp>
        <p:nvSpPr>
          <p:cNvPr id="20" name="step B4"/>
          <p:cNvSpPr/>
          <p:nvPr/>
        </p:nvSpPr>
        <p:spPr>
          <a:xfrm>
            <a:off x="6815938" y="4434840"/>
            <a:ext cx="1325880" cy="914400"/>
          </a:xfrm>
          <a:prstGeom prst="roundRect">
            <a:avLst>
              <a:gd name="adj" fmla="val 8000"/>
            </a:avLst>
          </a:prstGeom>
          <a:solidFill>
            <a:schemeClr val="accent3"/>
          </a:solidFill>
          <a:ln w="28575">
            <a:solidFill>
              <a:schemeClr val="accent1"/>
            </a:solidFill>
            <a:prstDash val="solid"/>
          </a:ln>
        </p:spPr>
      </p:sp>
      <p:sp>
        <p:nvSpPr>
          <p:cNvPr id="21" name="Text 19"/>
          <p:cNvSpPr txBox="1"/>
          <p:nvPr/>
        </p:nvSpPr>
        <p:spPr>
          <a:xfrm>
            <a:off x="6907378"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4  </a:t>
            </a:r>
            <a:pPr indent="0" marL="0">
              <a:buNone/>
            </a:pPr>
            <a:r>
              <a:rPr lang="en-US" sz="1300" dirty="0">
                <a:solidFill>
                  <a:schemeClr val="tx1"/>
                </a:solidFill>
              </a:rPr>
              <a:t>Git merges both, in seconds</a:t>
            </a:r>
            <a:endParaRPr lang="en-US" sz="1300" dirty="0"/>
          </a:p>
        </p:txBody>
      </p:sp>
      <p:sp>
        <p:nvSpPr>
          <p:cNvPr id="22" name="step B5"/>
          <p:cNvSpPr/>
          <p:nvPr/>
        </p:nvSpPr>
        <p:spPr>
          <a:xfrm>
            <a:off x="8386877" y="4434840"/>
            <a:ext cx="1325880" cy="914400"/>
          </a:xfrm>
          <a:prstGeom prst="roundRect">
            <a:avLst>
              <a:gd name="adj" fmla="val 8000"/>
            </a:avLst>
          </a:prstGeom>
          <a:solidFill>
            <a:schemeClr val="bg1"/>
          </a:solidFill>
          <a:ln w="15875">
            <a:solidFill>
              <a:schemeClr val="accent5"/>
            </a:solidFill>
            <a:prstDash val="solid"/>
          </a:ln>
        </p:spPr>
      </p:sp>
      <p:sp>
        <p:nvSpPr>
          <p:cNvPr id="23" name="Text 21"/>
          <p:cNvSpPr txBox="1"/>
          <p:nvPr/>
        </p:nvSpPr>
        <p:spPr>
          <a:xfrm>
            <a:off x="8478317"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5  </a:t>
            </a:r>
            <a:pPr indent="0" marL="0">
              <a:buNone/>
            </a:pPr>
            <a:r>
              <a:rPr lang="en-US" sz="1300" dirty="0">
                <a:solidFill>
                  <a:schemeClr val="tx1"/>
                </a:solidFill>
              </a:rPr>
              <a:t>Test the combined result</a:t>
            </a:r>
            <a:endParaRPr lang="en-US" sz="1300" dirty="0"/>
          </a:p>
        </p:txBody>
      </p:sp>
      <p:sp>
        <p:nvSpPr>
          <p:cNvPr id="24" name="step B6"/>
          <p:cNvSpPr/>
          <p:nvPr/>
        </p:nvSpPr>
        <p:spPr>
          <a:xfrm>
            <a:off x="9957816" y="4434840"/>
            <a:ext cx="1325880" cy="914400"/>
          </a:xfrm>
          <a:prstGeom prst="roundRect">
            <a:avLst>
              <a:gd name="adj" fmla="val 8000"/>
            </a:avLst>
          </a:prstGeom>
          <a:solidFill>
            <a:schemeClr val="bg1"/>
          </a:solidFill>
          <a:ln w="15875">
            <a:solidFill>
              <a:schemeClr val="accent5"/>
            </a:solidFill>
            <a:prstDash val="solid"/>
          </a:ln>
        </p:spPr>
      </p:sp>
      <p:sp>
        <p:nvSpPr>
          <p:cNvPr id="25" name="Text 23"/>
          <p:cNvSpPr txBox="1"/>
          <p:nvPr/>
        </p:nvSpPr>
        <p:spPr>
          <a:xfrm>
            <a:off x="10049256" y="4507992"/>
            <a:ext cx="1143000" cy="768096"/>
          </a:xfrm>
          <a:prstGeom prst="rect">
            <a:avLst/>
          </a:prstGeom>
          <a:noFill/>
          <a:ln/>
        </p:spPr>
        <p:txBody>
          <a:bodyPr wrap="square" lIns="0" tIns="0" rIns="0" bIns="0" rtlCol="0" anchor="t"/>
          <a:lstStyle/>
          <a:p>
            <a:pPr indent="0" marL="0">
              <a:buNone/>
            </a:pPr>
            <a:r>
              <a:rPr lang="en-US" sz="1300" b="1" dirty="0">
                <a:solidFill>
                  <a:schemeClr val="tx1"/>
                </a:solidFill>
              </a:rPr>
              <a:t>6  </a:t>
            </a:r>
            <a:pPr indent="0" marL="0">
              <a:buNone/>
            </a:pPr>
            <a:r>
              <a:rPr lang="en-US" sz="1300" dirty="0">
                <a:solidFill>
                  <a:schemeClr val="tx1"/>
                </a:solidFill>
              </a:rPr>
              <a:t>Deliver</a:t>
            </a:r>
            <a:endParaRPr lang="en-US" sz="1300" dirty="0"/>
          </a:p>
        </p:txBody>
      </p:sp>
      <p:sp>
        <p:nvSpPr>
          <p:cNvPr id="26" name="Shape 24"/>
          <p:cNvSpPr/>
          <p:nvPr/>
        </p:nvSpPr>
        <p:spPr>
          <a:xfrm>
            <a:off x="3429000" y="2697480"/>
            <a:ext cx="245059" cy="0"/>
          </a:xfrm>
          <a:prstGeom prst="line">
            <a:avLst/>
          </a:prstGeom>
          <a:noFill/>
          <a:ln w="19050">
            <a:solidFill>
              <a:srgbClr val="6B7686"/>
            </a:solidFill>
            <a:prstDash val="solid"/>
            <a:tailEnd type="triangle"/>
          </a:ln>
        </p:spPr>
      </p:sp>
      <p:sp>
        <p:nvSpPr>
          <p:cNvPr id="27" name="Shape 25"/>
          <p:cNvSpPr/>
          <p:nvPr/>
        </p:nvSpPr>
        <p:spPr>
          <a:xfrm>
            <a:off x="4999939" y="2697480"/>
            <a:ext cx="245059" cy="0"/>
          </a:xfrm>
          <a:prstGeom prst="line">
            <a:avLst/>
          </a:prstGeom>
          <a:noFill/>
          <a:ln w="19050">
            <a:solidFill>
              <a:srgbClr val="6B7686"/>
            </a:solidFill>
            <a:prstDash val="solid"/>
            <a:tailEnd type="triangle"/>
          </a:ln>
        </p:spPr>
      </p:sp>
      <p:sp>
        <p:nvSpPr>
          <p:cNvPr id="28" name="Shape 26"/>
          <p:cNvSpPr/>
          <p:nvPr/>
        </p:nvSpPr>
        <p:spPr>
          <a:xfrm>
            <a:off x="3429000" y="4892040"/>
            <a:ext cx="245059" cy="0"/>
          </a:xfrm>
          <a:prstGeom prst="line">
            <a:avLst/>
          </a:prstGeom>
          <a:noFill/>
          <a:ln w="19050">
            <a:solidFill>
              <a:srgbClr val="6B7686"/>
            </a:solidFill>
            <a:prstDash val="solid"/>
            <a:tailEnd type="triangle"/>
          </a:ln>
        </p:spPr>
      </p:sp>
      <p:sp>
        <p:nvSpPr>
          <p:cNvPr id="29" name="Shape 27"/>
          <p:cNvSpPr/>
          <p:nvPr/>
        </p:nvSpPr>
        <p:spPr>
          <a:xfrm>
            <a:off x="4999939" y="4892040"/>
            <a:ext cx="245059" cy="0"/>
          </a:xfrm>
          <a:prstGeom prst="line">
            <a:avLst/>
          </a:prstGeom>
          <a:noFill/>
          <a:ln w="19050">
            <a:solidFill>
              <a:srgbClr val="6B7686"/>
            </a:solidFill>
            <a:prstDash val="solid"/>
            <a:tailEnd type="triangle"/>
          </a:ln>
        </p:spPr>
      </p:sp>
      <p:sp>
        <p:nvSpPr>
          <p:cNvPr id="30" name="Shape 28"/>
          <p:cNvSpPr/>
          <p:nvPr/>
        </p:nvSpPr>
        <p:spPr>
          <a:xfrm>
            <a:off x="6570878" y="4892040"/>
            <a:ext cx="245059" cy="0"/>
          </a:xfrm>
          <a:prstGeom prst="line">
            <a:avLst/>
          </a:prstGeom>
          <a:noFill/>
          <a:ln w="19050">
            <a:solidFill>
              <a:srgbClr val="6B7686"/>
            </a:solidFill>
            <a:prstDash val="solid"/>
            <a:tailEnd type="triangle"/>
          </a:ln>
        </p:spPr>
      </p:sp>
      <p:sp>
        <p:nvSpPr>
          <p:cNvPr id="31" name="Shape 29"/>
          <p:cNvSpPr/>
          <p:nvPr/>
        </p:nvSpPr>
        <p:spPr>
          <a:xfrm>
            <a:off x="8141818" y="4892040"/>
            <a:ext cx="245059" cy="0"/>
          </a:xfrm>
          <a:prstGeom prst="line">
            <a:avLst/>
          </a:prstGeom>
          <a:noFill/>
          <a:ln w="19050">
            <a:solidFill>
              <a:srgbClr val="6B7686"/>
            </a:solidFill>
            <a:prstDash val="solid"/>
            <a:tailEnd type="triangle"/>
          </a:ln>
        </p:spPr>
      </p:sp>
      <p:sp>
        <p:nvSpPr>
          <p:cNvPr id="32" name="Shape 30"/>
          <p:cNvSpPr/>
          <p:nvPr/>
        </p:nvSpPr>
        <p:spPr>
          <a:xfrm>
            <a:off x="9712757" y="4892040"/>
            <a:ext cx="245059" cy="0"/>
          </a:xfrm>
          <a:prstGeom prst="line">
            <a:avLst/>
          </a:prstGeom>
          <a:noFill/>
          <a:ln w="19050">
            <a:solidFill>
              <a:srgbClr val="6B7686"/>
            </a:solidFill>
            <a:prstDash val="solid"/>
            <a:tailEnd type="triangle"/>
          </a:ln>
        </p:spPr>
      </p:sp>
      <p:sp>
        <p:nvSpPr>
          <p:cNvPr id="33" name="Shape 31"/>
          <p:cNvSpPr/>
          <p:nvPr/>
        </p:nvSpPr>
        <p:spPr>
          <a:xfrm>
            <a:off x="5907938" y="3154680"/>
            <a:ext cx="0" cy="1280160"/>
          </a:xfrm>
          <a:prstGeom prst="line">
            <a:avLst/>
          </a:prstGeom>
          <a:noFill/>
          <a:ln w="22225">
            <a:solidFill>
              <a:schemeClr val="tx1"/>
            </a:solidFill>
            <a:prstDash val="dash"/>
            <a:tailEnd type="triangle"/>
          </a:ln>
        </p:spPr>
      </p:sp>
      <p:sp>
        <p:nvSpPr>
          <p:cNvPr id="34" name="Text 32"/>
          <p:cNvSpPr txBox="1"/>
          <p:nvPr/>
        </p:nvSpPr>
        <p:spPr>
          <a:xfrm>
            <a:off x="6017666" y="3319272"/>
            <a:ext cx="1280160" cy="274320"/>
          </a:xfrm>
          <a:prstGeom prst="rect">
            <a:avLst/>
          </a:prstGeom>
          <a:noFill/>
          <a:ln/>
        </p:spPr>
        <p:txBody>
          <a:bodyPr wrap="square" lIns="0" tIns="0" rIns="0" bIns="0" rtlCol="0" anchor="ctr"/>
          <a:lstStyle/>
          <a:p>
            <a:pPr indent="0" marL="0">
              <a:buNone/>
            </a:pPr>
            <a:r>
              <a:rPr lang="en-US" sz="1200" dirty="0">
                <a:solidFill>
                  <a:schemeClr val="tx2"/>
                </a:solidFill>
              </a:rPr>
              <a:t>A delivers</a:t>
            </a:r>
            <a:endParaRPr lang="en-US" sz="1200" dirty="0"/>
          </a:p>
        </p:txBody>
      </p:sp>
      <p:sp>
        <p:nvSpPr>
          <p:cNvPr id="35" name="caption"/>
          <p:cNvSpPr txBox="1"/>
          <p:nvPr/>
        </p:nvSpPr>
        <p:spPr>
          <a:xfrm>
            <a:off x="813816" y="6053328"/>
            <a:ext cx="10424160" cy="292608"/>
          </a:xfrm>
          <a:prstGeom prst="rect">
            <a:avLst/>
          </a:prstGeom>
          <a:noFill/>
          <a:ln/>
        </p:spPr>
        <p:txBody>
          <a:bodyPr wrap="square" lIns="0" tIns="0" rIns="0" bIns="0" rtlCol="0" anchor="ctr"/>
          <a:lstStyle/>
          <a:p>
            <a:pPr indent="0" marL="0">
              <a:buNone/>
            </a:pPr>
            <a:r>
              <a:rPr lang="en-US" sz="1200" dirty="0">
                <a:solidFill>
                  <a:schemeClr val="tx2"/>
                </a:solidFill>
              </a:rPr>
              <a:t>Blue box = the step that replaces the manual redo. Only a real clash needs a decision.</a:t>
            </a:r>
            <a:endParaRPr lang="en-US" sz="12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347472"/>
            <a:ext cx="10570464"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TIME SAVED</a:t>
            </a:r>
            <a:endParaRPr lang="en-US" sz="1200" dirty="0"/>
          </a:p>
        </p:txBody>
      </p:sp>
      <p:sp>
        <p:nvSpPr>
          <p:cNvPr id="3" name="Text 0"/>
          <p:cNvSpPr/>
          <p:nvPr>
            <p:ph idx="101" type="title" hasCustomPrompt="1"/>
          </p:nvPr>
        </p:nvSpPr>
        <p:spPr>
          <a:xfrm>
            <a:off x="813816" y="658368"/>
            <a:ext cx="10570464" cy="914400"/>
          </a:xfrm>
          <a:prstGeom prst="rect">
            <a:avLst/>
          </a:prstGeom>
          <a:noFill/>
          <a:ln/>
        </p:spPr>
        <p:txBody>
          <a:bodyPr wrap="square" lIns="0" tIns="0" rIns="0" bIns="0" rtlCol="0" anchor="t"/>
          <a:lstStyle/>
          <a:p>
            <a:pPr algn="l" indent="0" marL="0">
              <a:buNone/>
            </a:pPr>
            <a:r>
              <a:rPr lang="en-US" sz="3200" b="1" dirty="0">
                <a:solidFill>
                  <a:schemeClr val="tx1"/>
                </a:solidFill>
              </a:rPr>
              <a:t>Time saved each time a colleague delivers</a:t>
            </a:r>
            <a:endParaRPr lang="en-US" sz="3200" dirty="0"/>
          </a:p>
        </p:txBody>
      </p:sp>
      <p:graphicFrame>
        <p:nvGraphicFramePr>
          <p:cNvPr id="5" name="time table"/>
          <p:cNvGraphicFramePr>
            <a:graphicFrameLocks noGrp="1"/>
          </p:cNvGraphicFramePr>
          <p:nvPr>
            <p:extLst>
              <p:ext uri="{D42A27DB-BD31-4B8C-83A1-F6EECF244321}">
                <p14:modId xmlns:p14="http://schemas.microsoft.com/office/powerpoint/2010/main" val="1579011935"/>
              </p:ext>
            </p:extLst>
          </p:nvPr>
        </p:nvGraphicFramePr>
        <p:xfrm>
          <a:off x="813816" y="1737360"/>
          <a:ext cx="6949440" cy="914400"/>
        </p:xfrm>
        <a:graphic>
          <a:graphicData uri="http://schemas.openxmlformats.org/drawingml/2006/table">
            <a:tbl>
              <a:tblPr/>
              <a:tblGrid>
                <a:gridCol w="2651760"/>
                <a:gridCol w="2148840"/>
                <a:gridCol w="2148840"/>
              </a:tblGrid>
              <a:tr h="621792">
                <a:tc>
                  <a:txBody>
                    <a:bodyPr/>
                    <a:lstStyle/>
                    <a:p>
                      <a:pPr indent="0" marL="0">
                        <a:buNone/>
                      </a:pPr>
                      <a:r>
                        <a:rPr lang="en-US" sz="1300" b="1" dirty="0">
                          <a:solidFill>
                            <a:schemeClr val="bg1"/>
                          </a:solidFill>
                        </a:rPr>
                        <a:t>Step for engineer B</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Today</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With merging</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tx1"/>
                    </a:solidFill>
                  </a:tcPr>
                </a:tc>
              </a:tr>
              <a:tr h="621792">
                <a:tc>
                  <a:txBody>
                    <a:bodyPr/>
                    <a:lstStyle/>
                    <a:p>
                      <a:pPr indent="0" marL="0">
                        <a:buNone/>
                      </a:pPr>
                      <a:r>
                        <a:rPr lang="en-US" sz="1300" dirty="0">
                          <a:solidFill>
                            <a:schemeClr val="tx1"/>
                          </a:solidFill>
                        </a:rPr>
                        <a:t>Start own work</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Wait for the delivery: 1–2 days</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Right away, in parallel</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r>
              <a:tr h="621792">
                <a:tc>
                  <a:txBody>
                    <a:bodyPr/>
                    <a:lstStyle/>
                    <a:p>
                      <a:pPr indent="0" marL="0">
                        <a:buNone/>
                      </a:pPr>
                      <a:r>
                        <a:rPr lang="en-US" sz="1300" dirty="0">
                          <a:solidFill>
                            <a:schemeClr val="tx1"/>
                          </a:solidFill>
                        </a:rPr>
                        <a:t>Pull the colleague's version</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~5 min</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~5 min</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accent6"/>
                    </a:solidFill>
                  </a:tcPr>
                </a:tc>
              </a:tr>
              <a:tr h="621792">
                <a:tc>
                  <a:txBody>
                    <a:bodyPr/>
                    <a:lstStyle/>
                    <a:p>
                      <a:pPr indent="0" marL="0">
                        <a:buNone/>
                      </a:pPr>
                      <a:r>
                        <a:rPr lang="en-US" sz="1300" dirty="0">
                          <a:solidFill>
                            <a:schemeClr val="tx1"/>
                          </a:solidFill>
                        </a:rPr>
                        <a:t>Bring back own MAPS changes</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Redo by hand: 1–2 h</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Automatic: seconds</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r>
              <a:tr h="621792">
                <a:tc>
                  <a:txBody>
                    <a:bodyPr/>
                    <a:lstStyle/>
                    <a:p>
                      <a:pPr indent="0" marL="0">
                        <a:buNone/>
                      </a:pPr>
                      <a:r>
                        <a:rPr lang="en-US" sz="1300" dirty="0">
                          <a:solidFill>
                            <a:schemeClr val="tx1"/>
                          </a:solidFill>
                        </a:rPr>
                        <a:t>Bring back own model changes</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Redo by hand: 1–3 h</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accent6"/>
                    </a:solidFill>
                  </a:tcPr>
                </a:tc>
                <a:tc>
                  <a:txBody>
                    <a:bodyPr/>
                    <a:lstStyle/>
                    <a:p>
                      <a:pPr indent="0" marL="0">
                        <a:buNone/>
                      </a:pPr>
                      <a:r>
                        <a:rPr lang="en-US" sz="1300" dirty="0">
                          <a:solidFill>
                            <a:schemeClr val="tx1"/>
                          </a:solidFill>
                        </a:rPr>
                        <a:t>Automatic, or merge window: 5–15 min</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accent6"/>
                    </a:solidFill>
                  </a:tcPr>
                </a:tc>
              </a:tr>
              <a:tr h="621792">
                <a:tc>
                  <a:txBody>
                    <a:bodyPr/>
                    <a:lstStyle/>
                    <a:p>
                      <a:pPr indent="0" marL="0">
                        <a:buNone/>
                      </a:pPr>
                      <a:r>
                        <a:rPr lang="en-US" sz="1300" dirty="0">
                          <a:solidFill>
                            <a:schemeClr val="tx1"/>
                          </a:solidFill>
                        </a:rPr>
                        <a:t>Test the combined result</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Same as today</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Same as today</a:t>
                      </a:r>
                      <a:endParaRPr lang="en-US" sz="1300" dirty="0"/>
                    </a:p>
                  </a:txBody>
                  <a:tcPr marL="73152" marR="73152" marT="73152" marB="73152" anchor="ctr">
                    <a:lnL w="9525" cap="flat" cmpd="sng" algn="ctr">
                      <a:solidFill>
                        <a:srgbClr val="9AA6B5"/>
                      </a:solidFill>
                      <a:prstDash val="solid"/>
                      <a:round/>
                      <a:headEnd type="none" w="med" len="med"/>
                      <a:tailEnd type="none" w="med" len="med"/>
                    </a:lnL>
                    <a:lnR w="9525" cap="flat" cmpd="sng" algn="ctr">
                      <a:solidFill>
                        <a:srgbClr val="9AA6B5"/>
                      </a:solidFill>
                      <a:prstDash val="solid"/>
                      <a:round/>
                      <a:headEnd type="none" w="med" len="med"/>
                      <a:tailEnd type="none" w="med" len="med"/>
                    </a:lnR>
                    <a:lnT w="9525" cap="flat" cmpd="sng" algn="ctr">
                      <a:solidFill>
                        <a:srgbClr val="9AA6B5"/>
                      </a:solidFill>
                      <a:prstDash val="solid"/>
                      <a:round/>
                      <a:headEnd type="none" w="med" len="med"/>
                      <a:tailEnd type="none" w="med" len="med"/>
                    </a:lnT>
                    <a:lnB w="9525" cap="flat" cmpd="sng" algn="ctr">
                      <a:solidFill>
                        <a:srgbClr val="9AA6B5"/>
                      </a:solidFill>
                      <a:prstDash val="solid"/>
                      <a:round/>
                      <a:headEnd type="none" w="med" len="med"/>
                      <a:tailEnd type="none" w="med" len="med"/>
                    </a:lnB>
                    <a:solidFill>
                      <a:schemeClr val="bg1"/>
                    </a:solidFill>
                  </a:tcPr>
                </a:tc>
              </a:tr>
            </a:tbl>
          </a:graphicData>
        </a:graphic>
      </p:graphicFrame>
      <p:sp>
        <p:nvSpPr>
          <p:cNvPr id="5" name="saving card"/>
          <p:cNvSpPr/>
          <p:nvPr/>
        </p:nvSpPr>
        <p:spPr>
          <a:xfrm>
            <a:off x="8092440" y="1737360"/>
            <a:ext cx="3291840" cy="3749040"/>
          </a:xfrm>
          <a:prstGeom prst="roundRect">
            <a:avLst>
              <a:gd name="adj" fmla="val 3889"/>
            </a:avLst>
          </a:prstGeom>
          <a:solidFill>
            <a:schemeClr val="tx1"/>
          </a:solidFill>
          <a:ln w="12700">
            <a:solidFill>
              <a:schemeClr val="tx1"/>
            </a:solidFill>
            <a:prstDash val="solid"/>
          </a:ln>
        </p:spPr>
      </p:sp>
      <p:sp>
        <p:nvSpPr>
          <p:cNvPr id="6" name="Text 3"/>
          <p:cNvSpPr txBox="1"/>
          <p:nvPr/>
        </p:nvSpPr>
        <p:spPr>
          <a:xfrm>
            <a:off x="8339328" y="1965960"/>
            <a:ext cx="2834640" cy="457200"/>
          </a:xfrm>
          <a:prstGeom prst="rect">
            <a:avLst/>
          </a:prstGeom>
          <a:noFill/>
          <a:ln/>
        </p:spPr>
        <p:txBody>
          <a:bodyPr wrap="square" lIns="0" tIns="0" rIns="0" bIns="0" rtlCol="0" anchor="ctr"/>
          <a:lstStyle/>
          <a:p>
            <a:pPr indent="0" marL="0">
              <a:buNone/>
            </a:pPr>
            <a:r>
              <a:rPr lang="en-US" sz="1100" b="1" spc="100" kern="0" dirty="0">
                <a:solidFill>
                  <a:srgbClr val="9FB0C6"/>
                </a:solidFill>
              </a:rPr>
              <a:t>SAVED PER ENGINEER, PER OVERLAP</a:t>
            </a:r>
            <a:endParaRPr lang="en-US" sz="1100" dirty="0"/>
          </a:p>
        </p:txBody>
      </p:sp>
      <p:sp>
        <p:nvSpPr>
          <p:cNvPr id="7" name="Text 4"/>
          <p:cNvSpPr txBox="1"/>
          <p:nvPr/>
        </p:nvSpPr>
        <p:spPr>
          <a:xfrm>
            <a:off x="8339328" y="2514600"/>
            <a:ext cx="2834640" cy="914400"/>
          </a:xfrm>
          <a:prstGeom prst="rect">
            <a:avLst/>
          </a:prstGeom>
          <a:noFill/>
          <a:ln/>
        </p:spPr>
        <p:txBody>
          <a:bodyPr wrap="square" lIns="0" tIns="0" rIns="0" bIns="0" rtlCol="0" anchor="ctr"/>
          <a:lstStyle/>
          <a:p>
            <a:pPr indent="0" marL="0">
              <a:buNone/>
            </a:pPr>
            <a:r>
              <a:rPr lang="en-US" sz="5400" b="1" dirty="0">
                <a:solidFill>
                  <a:srgbClr val="F3F1EA"/>
                </a:solidFill>
              </a:rPr>
              <a:t>~3 h</a:t>
            </a:r>
            <a:endParaRPr lang="en-US" sz="5400" dirty="0"/>
          </a:p>
        </p:txBody>
      </p:sp>
      <p:sp>
        <p:nvSpPr>
          <p:cNvPr id="8" name="Text 5"/>
          <p:cNvSpPr txBox="1"/>
          <p:nvPr/>
        </p:nvSpPr>
        <p:spPr>
          <a:xfrm>
            <a:off x="8339328" y="3520440"/>
            <a:ext cx="2834640" cy="731520"/>
          </a:xfrm>
          <a:prstGeom prst="rect">
            <a:avLst/>
          </a:prstGeom>
          <a:noFill/>
          <a:ln/>
        </p:spPr>
        <p:txBody>
          <a:bodyPr wrap="square" lIns="0" tIns="0" rIns="0" bIns="0" rtlCol="0" anchor="t"/>
          <a:lstStyle/>
          <a:p>
            <a:pPr indent="0" marL="0">
              <a:buNone/>
            </a:pPr>
            <a:r>
              <a:rPr lang="en-US" sz="1400" dirty="0">
                <a:solidFill>
                  <a:srgbClr val="BFC9D6"/>
                </a:solidFill>
              </a:rPr>
              <a:t>plus 1–2 days less waiting. Testing stays the same.</a:t>
            </a:r>
            <a:endParaRPr lang="en-US" sz="1400" dirty="0"/>
          </a:p>
        </p:txBody>
      </p:sp>
      <p:sp>
        <p:nvSpPr>
          <p:cNvPr id="9" name="Shape 6"/>
          <p:cNvSpPr/>
          <p:nvPr/>
        </p:nvSpPr>
        <p:spPr>
          <a:xfrm>
            <a:off x="8339328" y="4434840"/>
            <a:ext cx="2798064" cy="0"/>
          </a:xfrm>
          <a:prstGeom prst="line">
            <a:avLst/>
          </a:prstGeom>
          <a:noFill/>
          <a:ln w="12700">
            <a:solidFill>
              <a:srgbClr val="34466A"/>
            </a:solidFill>
            <a:prstDash val="solid"/>
          </a:ln>
        </p:spPr>
      </p:sp>
      <p:sp>
        <p:nvSpPr>
          <p:cNvPr id="10" name="Text 7"/>
          <p:cNvSpPr txBox="1"/>
          <p:nvPr/>
        </p:nvSpPr>
        <p:spPr>
          <a:xfrm>
            <a:off x="8339328" y="4617720"/>
            <a:ext cx="2834640" cy="685800"/>
          </a:xfrm>
          <a:prstGeom prst="rect">
            <a:avLst/>
          </a:prstGeom>
          <a:noFill/>
          <a:ln/>
        </p:spPr>
        <p:txBody>
          <a:bodyPr wrap="square" lIns="0" tIns="0" rIns="0" bIns="0" rtlCol="0" anchor="t"/>
          <a:lstStyle/>
          <a:p>
            <a:pPr indent="0" marL="0">
              <a:buNone/>
            </a:pPr>
            <a:r>
              <a:rPr lang="en-US" sz="1300" dirty="0">
                <a:solidFill>
                  <a:srgbClr val="F3F1EA"/>
                </a:solidFill>
              </a:rPr>
              <a:t>3 h × 4 overlaps a month × 5 engineers ≈ 60 h a month</a:t>
            </a:r>
            <a:endParaRPr lang="en-US" sz="1300" dirty="0"/>
          </a:p>
        </p:txBody>
      </p:sp>
      <p:sp>
        <p:nvSpPr>
          <p:cNvPr id="11" name="caption"/>
          <p:cNvSpPr txBox="1"/>
          <p:nvPr/>
        </p:nvSpPr>
        <p:spPr>
          <a:xfrm>
            <a:off x="813816" y="6053328"/>
            <a:ext cx="10424160" cy="292608"/>
          </a:xfrm>
          <a:prstGeom prst="rect">
            <a:avLst/>
          </a:prstGeom>
          <a:noFill/>
          <a:ln/>
        </p:spPr>
        <p:txBody>
          <a:bodyPr wrap="square" lIns="0" tIns="0" rIns="0" bIns="0" rtlCol="0" anchor="ctr"/>
          <a:lstStyle/>
          <a:p>
            <a:pPr indent="0" marL="0">
              <a:buNone/>
            </a:pPr>
            <a:r>
              <a:rPr lang="en-US" sz="1200" dirty="0">
                <a:solidFill>
                  <a:schemeClr val="tx2"/>
                </a:solidFill>
              </a:rPr>
              <a:t>Rough estimates for a typical change: a few model blocks and 10–40 MAPS values. Team size and overlaps assumed.</a:t>
            </a:r>
            <a:endParaRPr lang="en-US" sz="12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3816" y="347472"/>
            <a:ext cx="10570464"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FUTURE IMPROVEMENTS</a:t>
            </a:r>
            <a:endParaRPr lang="en-US" sz="1200" dirty="0"/>
          </a:p>
        </p:txBody>
      </p:sp>
      <p:sp>
        <p:nvSpPr>
          <p:cNvPr id="3" name="Text 0"/>
          <p:cNvSpPr/>
          <p:nvPr>
            <p:ph idx="101" type="title" hasCustomPrompt="1"/>
          </p:nvPr>
        </p:nvSpPr>
        <p:spPr>
          <a:xfrm>
            <a:off x="813816" y="658368"/>
            <a:ext cx="10570464" cy="914400"/>
          </a:xfrm>
          <a:prstGeom prst="rect">
            <a:avLst/>
          </a:prstGeom>
          <a:noFill/>
          <a:ln/>
        </p:spPr>
        <p:txBody>
          <a:bodyPr wrap="square" lIns="0" tIns="0" rIns="0" bIns="0" rtlCol="0" anchor="t"/>
          <a:lstStyle/>
          <a:p>
            <a:pPr algn="l" indent="0" marL="0">
              <a:buNone/>
            </a:pPr>
            <a:r>
              <a:rPr lang="en-US" sz="3200" b="1" dirty="0">
                <a:solidFill>
                  <a:schemeClr val="tx1"/>
                </a:solidFill>
              </a:rPr>
              <a:t>What comes next</a:t>
            </a:r>
            <a:endParaRPr lang="en-US" sz="3200" dirty="0"/>
          </a:p>
        </p:txBody>
      </p:sp>
      <p:sp>
        <p:nvSpPr>
          <p:cNvPr id="4" name="DevOps card"/>
          <p:cNvSpPr/>
          <p:nvPr/>
        </p:nvSpPr>
        <p:spPr>
          <a:xfrm>
            <a:off x="813816" y="1737360"/>
            <a:ext cx="5120640" cy="3611880"/>
          </a:xfrm>
          <a:prstGeom prst="roundRect">
            <a:avLst>
              <a:gd name="adj" fmla="val 3544"/>
            </a:avLst>
          </a:prstGeom>
          <a:solidFill>
            <a:schemeClr val="bg1"/>
          </a:solidFill>
          <a:ln w="12700">
            <a:solidFill>
              <a:srgbClr val="DDE1E6"/>
            </a:solidFill>
            <a:prstDash val="solid"/>
          </a:ln>
          <a:effectLst>
            <a:outerShdw sx="100000" sy="100000" kx="0" ky="0" algn="bl" rotWithShape="0" blurRad="101600" dist="25400" dir="5400000">
              <a:srgbClr val="16233A">
                <a:alpha val="8000"/>
              </a:srgbClr>
            </a:outerShdw>
          </a:effectLst>
        </p:spPr>
      </p:sp>
      <p:sp>
        <p:nvSpPr>
          <p:cNvPr id="5" name="Shape 3"/>
          <p:cNvSpPr/>
          <p:nvPr/>
        </p:nvSpPr>
        <p:spPr>
          <a:xfrm>
            <a:off x="1133856" y="2011680"/>
            <a:ext cx="1115568" cy="347472"/>
          </a:xfrm>
          <a:prstGeom prst="roundRect">
            <a:avLst>
              <a:gd name="adj" fmla="val 50000"/>
            </a:avLst>
          </a:prstGeom>
          <a:solidFill>
            <a:schemeClr val="accent6"/>
          </a:solidFill>
          <a:ln w="12700">
            <a:solidFill>
              <a:schemeClr val="accent6"/>
            </a:solidFill>
            <a:prstDash val="solid"/>
          </a:ln>
        </p:spPr>
      </p:sp>
      <p:sp>
        <p:nvSpPr>
          <p:cNvPr id="6" name="Text 4"/>
          <p:cNvSpPr txBox="1"/>
          <p:nvPr/>
        </p:nvSpPr>
        <p:spPr>
          <a:xfrm>
            <a:off x="1133856" y="2011680"/>
            <a:ext cx="1115568" cy="347472"/>
          </a:xfrm>
          <a:prstGeom prst="rect">
            <a:avLst/>
          </a:prstGeom>
          <a:noFill/>
          <a:ln/>
        </p:spPr>
        <p:txBody>
          <a:bodyPr wrap="square" lIns="0" tIns="0" rIns="0" bIns="0" rtlCol="0" anchor="ctr"/>
          <a:lstStyle/>
          <a:p>
            <a:pPr algn="ctr" indent="0" marL="0">
              <a:buNone/>
            </a:pPr>
            <a:r>
              <a:rPr lang="en-US" sz="1200" b="1" dirty="0">
                <a:solidFill>
                  <a:schemeClr val="tx2"/>
                </a:solidFill>
              </a:rPr>
              <a:t>Planned</a:t>
            </a:r>
            <a:endParaRPr lang="en-US" sz="1200" dirty="0"/>
          </a:p>
        </p:txBody>
      </p:sp>
      <p:sp>
        <p:nvSpPr>
          <p:cNvPr id="7" name="Text 5"/>
          <p:cNvSpPr txBox="1"/>
          <p:nvPr/>
        </p:nvSpPr>
        <p:spPr>
          <a:xfrm>
            <a:off x="1133856" y="2560320"/>
            <a:ext cx="4480560" cy="457200"/>
          </a:xfrm>
          <a:prstGeom prst="rect">
            <a:avLst/>
          </a:prstGeom>
          <a:noFill/>
          <a:ln/>
        </p:spPr>
        <p:txBody>
          <a:bodyPr wrap="square" lIns="0" tIns="0" rIns="0" bIns="0" rtlCol="0" anchor="ctr"/>
          <a:lstStyle/>
          <a:p>
            <a:pPr indent="0" marL="0">
              <a:buNone/>
            </a:pPr>
            <a:r>
              <a:rPr lang="en-US" sz="2000" b="1" dirty="0">
                <a:solidFill>
                  <a:schemeClr val="tx1"/>
                </a:solidFill>
              </a:rPr>
              <a:t>Roll out through DevOps</a:t>
            </a:r>
            <a:endParaRPr lang="en-US" sz="2000" dirty="0"/>
          </a:p>
        </p:txBody>
      </p:sp>
      <p:sp>
        <p:nvSpPr>
          <p:cNvPr id="8" name="Text 6"/>
          <p:cNvSpPr txBox="1"/>
          <p:nvPr/>
        </p:nvSpPr>
        <p:spPr>
          <a:xfrm>
            <a:off x="1133856" y="3154680"/>
            <a:ext cx="4480560" cy="868680"/>
          </a:xfrm>
          <a:prstGeom prst="rect">
            <a:avLst/>
          </a:prstGeom>
          <a:noFill/>
          <a:ln/>
        </p:spPr>
        <p:txBody>
          <a:bodyPr wrap="square" lIns="0" tIns="0" rIns="0" bIns="0" rtlCol="0" anchor="t"/>
          <a:lstStyle/>
          <a:p>
            <a:pPr indent="0" marL="0">
              <a:buNone/>
            </a:pPr>
            <a:r>
              <a:rPr lang="en-US" sz="1100" b="1" spc="100" kern="0" dirty="0">
                <a:solidFill>
                  <a:srgbClr val="6B7686"/>
                </a:solidFill>
              </a:rPr>
              <a:t>NOW</a:t>
            </a:r>
            <a:endParaRPr lang="en-US" sz="1100" dirty="0"/>
          </a:p>
          <a:p>
            <a:pPr indent="0" marL="0">
              <a:buNone/>
            </a:pPr>
            <a:r>
              <a:rPr lang="en-US" sz="1500" dirty="0">
                <a:solidFill>
                  <a:schemeClr val="tx2"/>
                </a:solidFill>
              </a:rPr>
              <a:t>It runs locally. Each engineer runs one setup command per clone.</a:t>
            </a:r>
            <a:endParaRPr lang="en-US" sz="1100" dirty="0"/>
          </a:p>
        </p:txBody>
      </p:sp>
      <p:sp>
        <p:nvSpPr>
          <p:cNvPr id="9" name="Text 7"/>
          <p:cNvSpPr txBox="1"/>
          <p:nvPr/>
        </p:nvSpPr>
        <p:spPr>
          <a:xfrm>
            <a:off x="1133856" y="4069080"/>
            <a:ext cx="4480560" cy="1097280"/>
          </a:xfrm>
          <a:prstGeom prst="rect">
            <a:avLst/>
          </a:prstGeom>
          <a:noFill/>
          <a:ln/>
        </p:spPr>
        <p:txBody>
          <a:bodyPr wrap="square" lIns="0" tIns="0" rIns="0" bIns="0" rtlCol="0" anchor="t"/>
          <a:lstStyle/>
          <a:p>
            <a:pPr indent="0" marL="0">
              <a:buNone/>
            </a:pPr>
            <a:r>
              <a:rPr lang="en-US" sz="1100" b="1" spc="100" kern="0" dirty="0">
                <a:solidFill>
                  <a:schemeClr val="accent1"/>
                </a:solidFill>
              </a:rPr>
              <a:t>NEXT</a:t>
            </a:r>
            <a:endParaRPr lang="en-US" sz="1100" dirty="0"/>
          </a:p>
          <a:p>
            <a:pPr indent="0" marL="0">
              <a:buNone/>
            </a:pPr>
            <a:r>
              <a:rPr lang="en-US" sz="1500" dirty="0">
                <a:solidFill>
                  <a:schemeClr val="tx2"/>
                </a:solidFill>
              </a:rPr>
              <a:t>The central Git setup installs it for everyone automatically, the same way the commit-ticket hook reaches everyone today.</a:t>
            </a:r>
            <a:endParaRPr lang="en-US" sz="1100" dirty="0"/>
          </a:p>
        </p:txBody>
      </p:sp>
      <p:sp>
        <p:nvSpPr>
          <p:cNvPr id="10" name="diff report card"/>
          <p:cNvSpPr/>
          <p:nvPr/>
        </p:nvSpPr>
        <p:spPr>
          <a:xfrm>
            <a:off x="6263640" y="1737360"/>
            <a:ext cx="5120640" cy="3611880"/>
          </a:xfrm>
          <a:prstGeom prst="roundRect">
            <a:avLst>
              <a:gd name="adj" fmla="val 3544"/>
            </a:avLst>
          </a:prstGeom>
          <a:solidFill>
            <a:schemeClr val="bg1"/>
          </a:solidFill>
          <a:ln w="12700">
            <a:solidFill>
              <a:srgbClr val="DDE1E6"/>
            </a:solidFill>
            <a:prstDash val="solid"/>
          </a:ln>
          <a:effectLst>
            <a:outerShdw sx="100000" sy="100000" kx="0" ky="0" algn="bl" rotWithShape="0" blurRad="101600" dist="25400" dir="5400000">
              <a:srgbClr val="16233A">
                <a:alpha val="8000"/>
              </a:srgbClr>
            </a:outerShdw>
          </a:effectLst>
        </p:spPr>
      </p:sp>
      <p:sp>
        <p:nvSpPr>
          <p:cNvPr id="11" name="Shape 9"/>
          <p:cNvSpPr/>
          <p:nvPr/>
        </p:nvSpPr>
        <p:spPr>
          <a:xfrm>
            <a:off x="6583680" y="2011680"/>
            <a:ext cx="1517904" cy="347472"/>
          </a:xfrm>
          <a:prstGeom prst="roundRect">
            <a:avLst>
              <a:gd name="adj" fmla="val 50000"/>
            </a:avLst>
          </a:prstGeom>
          <a:solidFill>
            <a:schemeClr val="accent3"/>
          </a:solidFill>
          <a:ln w="12700">
            <a:solidFill>
              <a:schemeClr val="accent3"/>
            </a:solidFill>
            <a:prstDash val="solid"/>
          </a:ln>
        </p:spPr>
      </p:sp>
      <p:sp>
        <p:nvSpPr>
          <p:cNvPr id="12" name="Text 10"/>
          <p:cNvSpPr txBox="1"/>
          <p:nvPr/>
        </p:nvSpPr>
        <p:spPr>
          <a:xfrm>
            <a:off x="6583680" y="2011680"/>
            <a:ext cx="1517904" cy="347472"/>
          </a:xfrm>
          <a:prstGeom prst="rect">
            <a:avLst/>
          </a:prstGeom>
          <a:noFill/>
          <a:ln/>
        </p:spPr>
        <p:txBody>
          <a:bodyPr wrap="square" lIns="0" tIns="0" rIns="0" bIns="0" rtlCol="0" anchor="ctr"/>
          <a:lstStyle/>
          <a:p>
            <a:pPr algn="ctr" indent="0" marL="0">
              <a:buNone/>
            </a:pPr>
            <a:r>
              <a:rPr lang="en-US" sz="1200" b="1" dirty="0">
                <a:solidFill>
                  <a:srgbClr val="1E4E8C"/>
                </a:solidFill>
              </a:rPr>
              <a:t>In progress</a:t>
            </a:r>
            <a:endParaRPr lang="en-US" sz="1200" dirty="0"/>
          </a:p>
        </p:txBody>
      </p:sp>
      <p:sp>
        <p:nvSpPr>
          <p:cNvPr id="13" name="Text 11"/>
          <p:cNvSpPr txBox="1"/>
          <p:nvPr/>
        </p:nvSpPr>
        <p:spPr>
          <a:xfrm>
            <a:off x="6583680" y="2560320"/>
            <a:ext cx="4480560" cy="457200"/>
          </a:xfrm>
          <a:prstGeom prst="rect">
            <a:avLst/>
          </a:prstGeom>
          <a:noFill/>
          <a:ln/>
        </p:spPr>
        <p:txBody>
          <a:bodyPr wrap="square" lIns="0" tIns="0" rIns="0" bIns="0" rtlCol="0" anchor="ctr"/>
          <a:lstStyle/>
          <a:p>
            <a:pPr indent="0" marL="0">
              <a:buNone/>
            </a:pPr>
            <a:r>
              <a:rPr lang="en-US" sz="2000" b="1" dirty="0">
                <a:solidFill>
                  <a:schemeClr val="tx1"/>
                </a:solidFill>
              </a:rPr>
              <a:t>Automatic diff report</a:t>
            </a:r>
            <a:endParaRPr lang="en-US" sz="2000" dirty="0"/>
          </a:p>
        </p:txBody>
      </p:sp>
      <p:sp>
        <p:nvSpPr>
          <p:cNvPr id="14" name="Text 12"/>
          <p:cNvSpPr txBox="1"/>
          <p:nvPr/>
        </p:nvSpPr>
        <p:spPr>
          <a:xfrm>
            <a:off x="6583680" y="3154680"/>
            <a:ext cx="4480560" cy="868680"/>
          </a:xfrm>
          <a:prstGeom prst="rect">
            <a:avLst/>
          </a:prstGeom>
          <a:noFill/>
          <a:ln/>
        </p:spPr>
        <p:txBody>
          <a:bodyPr wrap="square" lIns="0" tIns="0" rIns="0" bIns="0" rtlCol="0" anchor="t"/>
          <a:lstStyle/>
          <a:p>
            <a:pPr indent="0" marL="0">
              <a:buNone/>
            </a:pPr>
            <a:r>
              <a:rPr lang="en-US" sz="1100" b="1" spc="100" kern="0" dirty="0">
                <a:solidFill>
                  <a:srgbClr val="6B7686"/>
                </a:solidFill>
              </a:rPr>
              <a:t>NOW</a:t>
            </a:r>
            <a:endParaRPr lang="en-US" sz="1100" dirty="0"/>
          </a:p>
          <a:p>
            <a:pPr indent="0" marL="0">
              <a:buNone/>
            </a:pPr>
            <a:r>
              <a:rPr lang="en-US" sz="1500" dirty="0">
                <a:solidFill>
                  <a:schemeClr val="tx2"/>
                </a:solidFill>
              </a:rPr>
              <a:t>A merge prints how many changes came from each side.</a:t>
            </a:r>
            <a:endParaRPr lang="en-US" sz="1100" dirty="0"/>
          </a:p>
        </p:txBody>
      </p:sp>
      <p:sp>
        <p:nvSpPr>
          <p:cNvPr id="15" name="Text 13"/>
          <p:cNvSpPr txBox="1"/>
          <p:nvPr/>
        </p:nvSpPr>
        <p:spPr>
          <a:xfrm>
            <a:off x="6583680" y="4069080"/>
            <a:ext cx="4480560" cy="1097280"/>
          </a:xfrm>
          <a:prstGeom prst="rect">
            <a:avLst/>
          </a:prstGeom>
          <a:noFill/>
          <a:ln/>
        </p:spPr>
        <p:txBody>
          <a:bodyPr wrap="square" lIns="0" tIns="0" rIns="0" bIns="0" rtlCol="0" anchor="t"/>
          <a:lstStyle/>
          <a:p>
            <a:pPr indent="0" marL="0">
              <a:buNone/>
            </a:pPr>
            <a:r>
              <a:rPr lang="en-US" sz="1100" b="1" spc="100" kern="0" dirty="0">
                <a:solidFill>
                  <a:schemeClr val="accent1"/>
                </a:solidFill>
              </a:rPr>
              <a:t>NEXT</a:t>
            </a:r>
            <a:endParaRPr lang="en-US" sz="1100" dirty="0"/>
          </a:p>
          <a:p>
            <a:pPr indent="0" marL="0">
              <a:buNone/>
            </a:pPr>
            <a:r>
              <a:rPr lang="en-US" sz="1500" dirty="0">
                <a:solidFill>
                  <a:schemeClr val="tx2"/>
                </a:solidFill>
              </a:rPr>
              <a:t>A report of what changed, what was added and what was removed, per object, included in the delivery automatically.</a:t>
            </a:r>
            <a:endParaRPr lang="en-US" sz="1100" dirty="0"/>
          </a:p>
        </p:txBody>
      </p:sp>
      <p:sp>
        <p:nvSpPr>
          <p:cNvPr id="25" name="Slide Number Placeholder 0"/>
          <p:cNvSpPr>
            <a:spLocks noGrp="1"/>
          </p:cNvSpPr>
          <p:nvPr>
            <p:ph type="sldNum" sz="quarter" idx="4294967295"/>
          </p:nvPr>
        </p:nvSpPr>
        <p:spPr>
          <a:xfrm>
            <a:off x="112928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Parallel Merging">
  <a:themeElements>
    <a:clrScheme name="Parallel Merging">
      <a:dk1>
        <a:srgbClr val="16233A"/>
      </a:dk1>
      <a:lt1>
        <a:srgbClr val="FFFFFF"/>
      </a:lt1>
      <a:dk2>
        <a:srgbClr val="3D4A5C"/>
      </a:dk2>
      <a:lt2>
        <a:srgbClr val="F7F8FA"/>
      </a:lt2>
      <a:accent1>
        <a:srgbClr val="2563B8"/>
      </a:accent1>
      <a:accent2>
        <a:srgbClr val="C2621A"/>
      </a:accent2>
      <a:accent3>
        <a:srgbClr val="DCE8F7"/>
      </a:accent3>
      <a:accent4>
        <a:srgbClr val="F7E3D2"/>
      </a:accent4>
      <a:accent5>
        <a:srgbClr val="9AA6B5"/>
      </a:accent5>
      <a:accent6>
        <a:srgbClr val="ECEFF3"/>
      </a:accent6>
      <a:hlink>
        <a:srgbClr val="2563B8"/>
      </a:hlink>
      <a:folHlink>
        <a:srgbClr val="1E4E8C"/>
      </a:folHlink>
    </a:clrScheme>
    <a:fontScheme name="Parallel Merg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Model Merging</dc:title>
  <dc:subject>PptxGenJS Presentation</dc:subject>
  <dc:creator>PptxGenJS</dc:creator>
  <cp:lastModifiedBy>PptxGenJS</cp:lastModifiedBy>
  <cp:revision>1</cp:revision>
  <dcterms:created xsi:type="dcterms:W3CDTF">2026-10-07T16:03:07Z</dcterms:created>
  <dcterms:modified xsi:type="dcterms:W3CDTF">2026-10-07T16:03:07Z</dcterms:modified>
</cp:coreProperties>
</file>